
<file path=[Content_Types].xml><?xml version="1.0" encoding="utf-8"?>
<Types xmlns="http://schemas.openxmlformats.org/package/2006/content-types">
  <Default ContentType="application/xml" Extension="xml"/>
  <Default ContentType="image/png" Extension="png"/>
  <Default ContentType="image/jpeg" Extension="jpe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1.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1.xml><?xml version="1.0" encoding="utf-8"?>
<a:tblStyleLst xmlns:a="http://schemas.openxmlformats.org/drawingml/2006/main" xmlns:r="http://schemas.openxmlformats.org/officeDocument/2006/relationships" def="{90651C3A-4460-11DB-9652-00E08161165F}">
  <a:tblStyle styleId="{5940675A-B579-460E-94D1-54222C63F5DA}" styleName="No Style, Table Grid">
    <a:wholeTbl>
      <a:tcTxStyle>
        <a:fontRef idx="minor">
          <a:scrgbClr b="0" g="0" r="0"/>
        </a:fontRef>
        <a:schemeClr val="tx1"/>
      </a:tcTxStyle>
      <a:tcStyle>
        <a:tcBdr>
          <a:left>
            <a:ln cmpd="sng" w="12700">
              <a:solidFill>
                <a:schemeClr val="tx1"/>
              </a:solidFill>
            </a:ln>
          </a:left>
          <a:right>
            <a:ln cmpd="sng" w="12700">
              <a:solidFill>
                <a:schemeClr val="tx1"/>
              </a:solidFill>
            </a:ln>
          </a:right>
          <a:top>
            <a:ln cmpd="sng" w="12700">
              <a:solidFill>
                <a:schemeClr val="tx1"/>
              </a:solidFill>
            </a:ln>
          </a:top>
          <a:bottom>
            <a:ln cmpd="sng" w="12700">
              <a:solidFill>
                <a:schemeClr val="tx1"/>
              </a:solidFill>
            </a:ln>
          </a:bottom>
          <a:insideH>
            <a:ln cmpd="sng" w="12700">
              <a:solidFill>
                <a:schemeClr val="tx1"/>
              </a:solidFill>
            </a:ln>
          </a:insideH>
          <a:insideV>
            <a:ln cmpd="sng" w="12700">
              <a:solidFill>
                <a:schemeClr val="tx1"/>
              </a:solidFill>
            </a:ln>
          </a:insideV>
        </a:tcBdr>
        <a:fill>
          <a:noFill/>
        </a:fill>
      </a:tcStyle>
    </a:wholeTb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tableStyles" Target="tableStyles1.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E2F1C2-01DE-423B-864A-488FDE1E1D90}" type="datetimeFigureOut">
              <a:rPr lang="en-IN" smtClean="0"/>
              <a:t>07-06-2026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0A9C32-3BD9-4966-8299-07E32AC3F18A}" type="slidenum">
              <a:rPr lang="en-IN" smtClean="0"/>
              <a:t>‹#›</a:t>
            </a:fld>
            <a:endParaRPr lang="en-IN" dirty="0"/>
          </a:p>
        </p:txBody>
      </p:sp>
    </p:spTree>
    <p:extLst>
      <p:ext uri="{BB962C8B-B14F-4D97-AF65-F5344CB8AC3E}">
        <p14:creationId xmlns:p14="http://schemas.microsoft.com/office/powerpoint/2010/main" val="2759399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620D6-2F9C-4752-9C98-BC93ED6BA1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AE270BE-C58D-454F-9F53-9061C140F2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8C3A4D2-FD86-43AD-8D4C-05A039EA1496}"/>
              </a:ext>
            </a:extLst>
          </p:cNvPr>
          <p:cNvSpPr>
            <a:spLocks noGrp="1"/>
          </p:cNvSpPr>
          <p:nvPr>
            <p:ph type="dt" sz="half" idx="10"/>
          </p:nvPr>
        </p:nvSpPr>
        <p:spPr/>
        <p:txBody>
          <a:bodyPr/>
          <a:lstStyle/>
          <a:p>
            <a:fld id="{E30AA148-EF73-4905-8CAB-7134AB7B2A65}" type="datetime1">
              <a:rPr lang="en-IN" smtClean="0"/>
              <a:t>07-06-2026</a:t>
            </a:fld>
            <a:endParaRPr lang="en-IN" dirty="0"/>
          </a:p>
        </p:txBody>
      </p:sp>
      <p:sp>
        <p:nvSpPr>
          <p:cNvPr id="5" name="Footer Placeholder 4">
            <a:extLst>
              <a:ext uri="{FF2B5EF4-FFF2-40B4-BE49-F238E27FC236}">
                <a16:creationId xmlns:a16="http://schemas.microsoft.com/office/drawing/2014/main" id="{2E3C2132-B069-4C70-A66D-2F6E80F43B7D}"/>
              </a:ext>
            </a:extLst>
          </p:cNvPr>
          <p:cNvSpPr>
            <a:spLocks noGrp="1"/>
          </p:cNvSpPr>
          <p:nvPr>
            <p:ph type="ftr" sz="quarter" idx="11"/>
          </p:nvPr>
        </p:nvSpPr>
        <p:spPr/>
        <p:txBody>
          <a:bodyPr/>
          <a:lstStyle/>
          <a:p>
            <a:r>
              <a:rPr lang="en-US" dirty="0"/>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A6BD8282-B36B-4819-B910-278751FED44B}"/>
              </a:ext>
            </a:extLst>
          </p:cNvPr>
          <p:cNvSpPr>
            <a:spLocks noGrp="1"/>
          </p:cNvSpPr>
          <p:nvPr>
            <p:ph type="sldNum" sz="quarter" idx="12"/>
          </p:nvPr>
        </p:nvSpPr>
        <p:spPr/>
        <p:txBody>
          <a:bodyPr/>
          <a:lstStyle/>
          <a:p>
            <a:fld id="{1631108B-5D83-4953-8F3A-2D4544B1B95C}" type="slidenum">
              <a:rPr lang="en-IN" smtClean="0"/>
              <a:t>‹#›</a:t>
            </a:fld>
            <a:endParaRPr lang="en-IN" dirty="0"/>
          </a:p>
        </p:txBody>
      </p:sp>
    </p:spTree>
    <p:extLst>
      <p:ext uri="{BB962C8B-B14F-4D97-AF65-F5344CB8AC3E}">
        <p14:creationId xmlns:p14="http://schemas.microsoft.com/office/powerpoint/2010/main" val="942751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FEB67D-FB64-48C4-B9E5-2EDC082BFE5D}"/>
              </a:ext>
            </a:extLst>
          </p:cNvPr>
          <p:cNvSpPr/>
          <p:nvPr userDrawn="1"/>
        </p:nvSpPr>
        <p:spPr>
          <a:xfrm>
            <a:off x="0" y="6176963"/>
            <a:ext cx="12192000" cy="681037"/>
          </a:xfrm>
          <a:prstGeom prst="rect">
            <a:avLst/>
          </a:prstGeom>
          <a:solidFill>
            <a:srgbClr val="0035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881" dirty="0"/>
          </a:p>
        </p:txBody>
      </p:sp>
      <p:sp>
        <p:nvSpPr>
          <p:cNvPr id="2" name="Title 1">
            <a:extLst>
              <a:ext uri="{FF2B5EF4-FFF2-40B4-BE49-F238E27FC236}">
                <a16:creationId xmlns:a16="http://schemas.microsoft.com/office/drawing/2014/main" id="{E69B3209-7168-4BE8-A734-CAC6A218B85B}"/>
              </a:ext>
            </a:extLst>
          </p:cNvPr>
          <p:cNvSpPr>
            <a:spLocks noGrp="1"/>
          </p:cNvSpPr>
          <p:nvPr>
            <p:ph type="title"/>
          </p:nvPr>
        </p:nvSpPr>
        <p:spPr>
          <a:xfrm>
            <a:off x="265545" y="-3"/>
            <a:ext cx="10515600" cy="1325563"/>
          </a:xfrm>
        </p:spPr>
        <p:txBody>
          <a:bodyPr/>
          <a:lstStyle>
            <a:lvl1pPr>
              <a:defRPr>
                <a:solidFill>
                  <a:schemeClr val="bg1"/>
                </a:solidFill>
              </a:defRPr>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846AF6A-61DD-4A56-AF39-6AA3EB1DCA27}"/>
              </a:ext>
            </a:extLst>
          </p:cNvPr>
          <p:cNvSpPr>
            <a:spLocks noGrp="1"/>
          </p:cNvSpPr>
          <p:nvPr>
            <p:ph idx="1"/>
          </p:nvPr>
        </p:nvSpPr>
        <p:spPr>
          <a:xfrm>
            <a:off x="471055" y="1575591"/>
            <a:ext cx="1131454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04AC07-9A6B-4F7F-A963-3D5DDFCAC7BB}"/>
              </a:ext>
            </a:extLst>
          </p:cNvPr>
          <p:cNvSpPr>
            <a:spLocks noGrp="1"/>
          </p:cNvSpPr>
          <p:nvPr>
            <p:ph type="dt" sz="half" idx="10"/>
          </p:nvPr>
        </p:nvSpPr>
        <p:spPr/>
        <p:txBody>
          <a:bodyPr/>
          <a:lstStyle>
            <a:lvl1pPr>
              <a:defRPr>
                <a:solidFill>
                  <a:schemeClr val="bg1"/>
                </a:solidFill>
              </a:defRPr>
            </a:lvl1pPr>
          </a:lstStyle>
          <a:p>
            <a:fld id="{64F878E6-5DE8-41D3-A3D4-164024813DEA}" type="datetime1">
              <a:rPr lang="en-IN" smtClean="0"/>
              <a:t>07-06-2026</a:t>
            </a:fld>
            <a:endParaRPr lang="en-IN" dirty="0"/>
          </a:p>
        </p:txBody>
      </p:sp>
      <p:sp>
        <p:nvSpPr>
          <p:cNvPr id="5" name="Footer Placeholder 4">
            <a:extLst>
              <a:ext uri="{FF2B5EF4-FFF2-40B4-BE49-F238E27FC236}">
                <a16:creationId xmlns:a16="http://schemas.microsoft.com/office/drawing/2014/main" id="{E390D4C8-C118-4C87-936E-D7D19606C0FD}"/>
              </a:ext>
            </a:extLst>
          </p:cNvPr>
          <p:cNvSpPr>
            <a:spLocks noGrp="1"/>
          </p:cNvSpPr>
          <p:nvPr>
            <p:ph type="ftr" sz="quarter" idx="11"/>
          </p:nvPr>
        </p:nvSpPr>
        <p:spPr/>
        <p:txBody>
          <a:bodyPr/>
          <a:lstStyle>
            <a:lvl1pPr>
              <a:defRPr>
                <a:solidFill>
                  <a:schemeClr val="bg1"/>
                </a:solidFill>
              </a:defRPr>
            </a:lvl1pPr>
          </a:lstStyle>
          <a:p>
            <a:r>
              <a:rPr lang="en-US" dirty="0"/>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83239B2E-2678-4B75-A912-F119C9246FC6}"/>
              </a:ext>
            </a:extLst>
          </p:cNvPr>
          <p:cNvSpPr>
            <a:spLocks noGrp="1"/>
          </p:cNvSpPr>
          <p:nvPr>
            <p:ph type="sldNum" sz="quarter" idx="12"/>
          </p:nvPr>
        </p:nvSpPr>
        <p:spPr/>
        <p:txBody>
          <a:bodyPr/>
          <a:lstStyle>
            <a:lvl1pPr>
              <a:defRPr>
                <a:solidFill>
                  <a:schemeClr val="bg1"/>
                </a:solidFill>
              </a:defRPr>
            </a:lvl1pPr>
          </a:lstStyle>
          <a:p>
            <a:fld id="{1631108B-5D83-4953-8F3A-2D4544B1B95C}" type="slidenum">
              <a:rPr lang="en-IN" smtClean="0"/>
              <a:pPr/>
              <a:t>‹#›</a:t>
            </a:fld>
            <a:endParaRPr lang="en-IN" dirty="0"/>
          </a:p>
        </p:txBody>
      </p:sp>
      <p:sp>
        <p:nvSpPr>
          <p:cNvPr id="7" name="Title 1">
            <a:extLst>
              <a:ext uri="{FF2B5EF4-FFF2-40B4-BE49-F238E27FC236}">
                <a16:creationId xmlns:a16="http://schemas.microsoft.com/office/drawing/2014/main" id="{4723912A-56A9-4FA3-A24F-B296638F5F07}"/>
              </a:ext>
            </a:extLst>
          </p:cNvPr>
          <p:cNvSpPr txBox="1">
            <a:spLocks/>
          </p:cNvSpPr>
          <p:nvPr userDrawn="1"/>
        </p:nvSpPr>
        <p:spPr>
          <a:xfrm>
            <a:off x="625763" y="-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dirty="0"/>
              <a:t>Click to edit Master title style</a:t>
            </a:r>
            <a:endParaRPr lang="en-IN" dirty="0"/>
          </a:p>
        </p:txBody>
      </p:sp>
      <p:sp>
        <p:nvSpPr>
          <p:cNvPr id="8" name="Rectangle 7">
            <a:extLst>
              <a:ext uri="{FF2B5EF4-FFF2-40B4-BE49-F238E27FC236}">
                <a16:creationId xmlns:a16="http://schemas.microsoft.com/office/drawing/2014/main" id="{311A7085-B949-4227-A3FB-FDCA1E9F1C54}"/>
              </a:ext>
            </a:extLst>
          </p:cNvPr>
          <p:cNvSpPr/>
          <p:nvPr userDrawn="1"/>
        </p:nvSpPr>
        <p:spPr>
          <a:xfrm>
            <a:off x="0" y="-1"/>
            <a:ext cx="12192000" cy="1325563"/>
          </a:xfrm>
          <a:prstGeom prst="rect">
            <a:avLst/>
          </a:prstGeom>
          <a:solidFill>
            <a:srgbClr val="0035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881" dirty="0"/>
          </a:p>
        </p:txBody>
      </p:sp>
      <p:pic>
        <p:nvPicPr>
          <p:cNvPr id="10" name="Picture 9">
            <a:extLst>
              <a:ext uri="{FF2B5EF4-FFF2-40B4-BE49-F238E27FC236}">
                <a16:creationId xmlns:a16="http://schemas.microsoft.com/office/drawing/2014/main" id="{B679EC21-C9D0-498D-BB2E-57630D372E9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45300" y="-460034"/>
            <a:ext cx="6096000" cy="2131057"/>
          </a:xfrm>
          <a:prstGeom prst="rect">
            <a:avLst/>
          </a:prstGeom>
        </p:spPr>
      </p:pic>
    </p:spTree>
    <p:extLst>
      <p:ext uri="{BB962C8B-B14F-4D97-AF65-F5344CB8AC3E}">
        <p14:creationId xmlns:p14="http://schemas.microsoft.com/office/powerpoint/2010/main" val="4156804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E087E-D393-4464-A0F5-2EBF9CF73B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5ABB515-236D-4D1E-915D-55F39DC23E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6C4B48-7C5E-431F-91BF-ADEA4E808D13}"/>
              </a:ext>
            </a:extLst>
          </p:cNvPr>
          <p:cNvSpPr>
            <a:spLocks noGrp="1"/>
          </p:cNvSpPr>
          <p:nvPr>
            <p:ph type="dt" sz="half" idx="10"/>
          </p:nvPr>
        </p:nvSpPr>
        <p:spPr/>
        <p:txBody>
          <a:bodyPr/>
          <a:lstStyle/>
          <a:p>
            <a:fld id="{8612759B-DFAA-4B1D-B1DA-A6D7528E687A}" type="datetime1">
              <a:rPr lang="en-IN" smtClean="0"/>
              <a:t>07-06-2026</a:t>
            </a:fld>
            <a:endParaRPr lang="en-IN" dirty="0"/>
          </a:p>
        </p:txBody>
      </p:sp>
      <p:sp>
        <p:nvSpPr>
          <p:cNvPr id="5" name="Footer Placeholder 4">
            <a:extLst>
              <a:ext uri="{FF2B5EF4-FFF2-40B4-BE49-F238E27FC236}">
                <a16:creationId xmlns:a16="http://schemas.microsoft.com/office/drawing/2014/main" id="{7E9A84E2-B099-4ED0-ADCF-D0975083732C}"/>
              </a:ext>
            </a:extLst>
          </p:cNvPr>
          <p:cNvSpPr>
            <a:spLocks noGrp="1"/>
          </p:cNvSpPr>
          <p:nvPr>
            <p:ph type="ftr" sz="quarter" idx="11"/>
          </p:nvPr>
        </p:nvSpPr>
        <p:spPr/>
        <p:txBody>
          <a:bodyPr/>
          <a:lstStyle/>
          <a:p>
            <a:r>
              <a:rPr lang="en-US" dirty="0"/>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657241B7-2DBD-4BB5-93E2-165E4C124A06}"/>
              </a:ext>
            </a:extLst>
          </p:cNvPr>
          <p:cNvSpPr>
            <a:spLocks noGrp="1"/>
          </p:cNvSpPr>
          <p:nvPr>
            <p:ph type="sldNum" sz="quarter" idx="12"/>
          </p:nvPr>
        </p:nvSpPr>
        <p:spPr/>
        <p:txBody>
          <a:bodyPr/>
          <a:lstStyle/>
          <a:p>
            <a:fld id="{1631108B-5D83-4953-8F3A-2D4544B1B95C}" type="slidenum">
              <a:rPr lang="en-IN" smtClean="0"/>
              <a:t>‹#›</a:t>
            </a:fld>
            <a:endParaRPr lang="en-IN" dirty="0"/>
          </a:p>
        </p:txBody>
      </p:sp>
    </p:spTree>
    <p:extLst>
      <p:ext uri="{BB962C8B-B14F-4D97-AF65-F5344CB8AC3E}">
        <p14:creationId xmlns:p14="http://schemas.microsoft.com/office/powerpoint/2010/main" val="2011139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66599-4E85-45B4-BD48-776D4ED2DE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56F426-F3F1-4F92-8855-5FC1F63935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B5EF02-08C7-475A-BC38-42BDBCC077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129C42F-B1E8-4494-8E43-2A0140D8C9D2}"/>
              </a:ext>
            </a:extLst>
          </p:cNvPr>
          <p:cNvSpPr>
            <a:spLocks noGrp="1"/>
          </p:cNvSpPr>
          <p:nvPr>
            <p:ph type="dt" sz="half" idx="10"/>
          </p:nvPr>
        </p:nvSpPr>
        <p:spPr/>
        <p:txBody>
          <a:bodyPr/>
          <a:lstStyle/>
          <a:p>
            <a:fld id="{D9BB25A6-D73F-403B-AEA9-737FCBFC017F}" type="datetime1">
              <a:rPr lang="en-IN" smtClean="0"/>
              <a:t>07-06-2026</a:t>
            </a:fld>
            <a:endParaRPr lang="en-IN" dirty="0"/>
          </a:p>
        </p:txBody>
      </p:sp>
      <p:sp>
        <p:nvSpPr>
          <p:cNvPr id="6" name="Footer Placeholder 5">
            <a:extLst>
              <a:ext uri="{FF2B5EF4-FFF2-40B4-BE49-F238E27FC236}">
                <a16:creationId xmlns:a16="http://schemas.microsoft.com/office/drawing/2014/main" id="{2AEBA9A5-CF8B-4D73-B2C4-0CD7AA7CDEF6}"/>
              </a:ext>
            </a:extLst>
          </p:cNvPr>
          <p:cNvSpPr>
            <a:spLocks noGrp="1"/>
          </p:cNvSpPr>
          <p:nvPr>
            <p:ph type="ftr" sz="quarter" idx="11"/>
          </p:nvPr>
        </p:nvSpPr>
        <p:spPr/>
        <p:txBody>
          <a:bodyPr/>
          <a:lstStyle/>
          <a:p>
            <a:r>
              <a:rPr lang="en-US" dirty="0"/>
              <a:t>Dynamic  Health Risk Predictor| Department of Information Science and Engineering</a:t>
            </a:r>
            <a:endParaRPr lang="en-IN" dirty="0"/>
          </a:p>
        </p:txBody>
      </p:sp>
      <p:sp>
        <p:nvSpPr>
          <p:cNvPr id="7" name="Slide Number Placeholder 6">
            <a:extLst>
              <a:ext uri="{FF2B5EF4-FFF2-40B4-BE49-F238E27FC236}">
                <a16:creationId xmlns:a16="http://schemas.microsoft.com/office/drawing/2014/main" id="{944AD931-E1AB-41F3-826A-5C44C121A68E}"/>
              </a:ext>
            </a:extLst>
          </p:cNvPr>
          <p:cNvSpPr>
            <a:spLocks noGrp="1"/>
          </p:cNvSpPr>
          <p:nvPr>
            <p:ph type="sldNum" sz="quarter" idx="12"/>
          </p:nvPr>
        </p:nvSpPr>
        <p:spPr/>
        <p:txBody>
          <a:bodyPr/>
          <a:lstStyle/>
          <a:p>
            <a:fld id="{1631108B-5D83-4953-8F3A-2D4544B1B95C}" type="slidenum">
              <a:rPr lang="en-IN" smtClean="0"/>
              <a:t>‹#›</a:t>
            </a:fld>
            <a:endParaRPr lang="en-IN" dirty="0"/>
          </a:p>
        </p:txBody>
      </p:sp>
    </p:spTree>
    <p:extLst>
      <p:ext uri="{BB962C8B-B14F-4D97-AF65-F5344CB8AC3E}">
        <p14:creationId xmlns:p14="http://schemas.microsoft.com/office/powerpoint/2010/main" val="3283396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B9838-09C9-4F7C-BB9B-388FD23584F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975FA4-00B2-4432-A403-22FD72B3DF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C9AB69-BCDC-462F-A9FF-9CCCB60436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E27AF0A-0D82-455B-B0FC-6B3619E23E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B38246-66E8-440D-B0AB-A11BEE38C6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7FAEDE0-5675-4F44-9B37-2731978517BF}"/>
              </a:ext>
            </a:extLst>
          </p:cNvPr>
          <p:cNvSpPr>
            <a:spLocks noGrp="1"/>
          </p:cNvSpPr>
          <p:nvPr>
            <p:ph type="dt" sz="half" idx="10"/>
          </p:nvPr>
        </p:nvSpPr>
        <p:spPr/>
        <p:txBody>
          <a:bodyPr/>
          <a:lstStyle/>
          <a:p>
            <a:fld id="{CE68375E-057B-4514-93A6-D3EBF3481A7A}" type="datetime1">
              <a:rPr lang="en-IN" smtClean="0"/>
              <a:t>07-06-2026</a:t>
            </a:fld>
            <a:endParaRPr lang="en-IN" dirty="0"/>
          </a:p>
        </p:txBody>
      </p:sp>
      <p:sp>
        <p:nvSpPr>
          <p:cNvPr id="8" name="Footer Placeholder 7">
            <a:extLst>
              <a:ext uri="{FF2B5EF4-FFF2-40B4-BE49-F238E27FC236}">
                <a16:creationId xmlns:a16="http://schemas.microsoft.com/office/drawing/2014/main" id="{99B6413A-D69A-473C-B0CF-4D56949FB081}"/>
              </a:ext>
            </a:extLst>
          </p:cNvPr>
          <p:cNvSpPr>
            <a:spLocks noGrp="1"/>
          </p:cNvSpPr>
          <p:nvPr>
            <p:ph type="ftr" sz="quarter" idx="11"/>
          </p:nvPr>
        </p:nvSpPr>
        <p:spPr/>
        <p:txBody>
          <a:bodyPr/>
          <a:lstStyle/>
          <a:p>
            <a:r>
              <a:rPr lang="en-US" dirty="0"/>
              <a:t>Dynamic  Health Risk Predictor| Department of Information Science and Engineering</a:t>
            </a:r>
            <a:endParaRPr lang="en-IN" dirty="0"/>
          </a:p>
        </p:txBody>
      </p:sp>
      <p:sp>
        <p:nvSpPr>
          <p:cNvPr id="9" name="Slide Number Placeholder 8">
            <a:extLst>
              <a:ext uri="{FF2B5EF4-FFF2-40B4-BE49-F238E27FC236}">
                <a16:creationId xmlns:a16="http://schemas.microsoft.com/office/drawing/2014/main" id="{860708BA-C3CD-4248-BBDE-5BE6F0F2628B}"/>
              </a:ext>
            </a:extLst>
          </p:cNvPr>
          <p:cNvSpPr>
            <a:spLocks noGrp="1"/>
          </p:cNvSpPr>
          <p:nvPr>
            <p:ph type="sldNum" sz="quarter" idx="12"/>
          </p:nvPr>
        </p:nvSpPr>
        <p:spPr/>
        <p:txBody>
          <a:bodyPr/>
          <a:lstStyle/>
          <a:p>
            <a:fld id="{1631108B-5D83-4953-8F3A-2D4544B1B95C}" type="slidenum">
              <a:rPr lang="en-IN" smtClean="0"/>
              <a:t>‹#›</a:t>
            </a:fld>
            <a:endParaRPr lang="en-IN" dirty="0"/>
          </a:p>
        </p:txBody>
      </p:sp>
    </p:spTree>
    <p:extLst>
      <p:ext uri="{BB962C8B-B14F-4D97-AF65-F5344CB8AC3E}">
        <p14:creationId xmlns:p14="http://schemas.microsoft.com/office/powerpoint/2010/main" val="3870345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20FAA-6DCF-4252-B3EC-FA7F4CB6822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E8DA22D-8942-46EF-9D82-DF3E8E5CF9C3}"/>
              </a:ext>
            </a:extLst>
          </p:cNvPr>
          <p:cNvSpPr>
            <a:spLocks noGrp="1"/>
          </p:cNvSpPr>
          <p:nvPr>
            <p:ph type="dt" sz="half" idx="10"/>
          </p:nvPr>
        </p:nvSpPr>
        <p:spPr/>
        <p:txBody>
          <a:bodyPr/>
          <a:lstStyle/>
          <a:p>
            <a:fld id="{B6F0425D-FDCC-4A17-8D87-335392127D12}" type="datetime1">
              <a:rPr lang="en-IN" smtClean="0"/>
              <a:t>07-06-2026</a:t>
            </a:fld>
            <a:endParaRPr lang="en-IN" dirty="0"/>
          </a:p>
        </p:txBody>
      </p:sp>
      <p:sp>
        <p:nvSpPr>
          <p:cNvPr id="4" name="Footer Placeholder 3">
            <a:extLst>
              <a:ext uri="{FF2B5EF4-FFF2-40B4-BE49-F238E27FC236}">
                <a16:creationId xmlns:a16="http://schemas.microsoft.com/office/drawing/2014/main" id="{18034EE5-865E-4E55-8448-5948276B0D86}"/>
              </a:ext>
            </a:extLst>
          </p:cNvPr>
          <p:cNvSpPr>
            <a:spLocks noGrp="1"/>
          </p:cNvSpPr>
          <p:nvPr>
            <p:ph type="ftr" sz="quarter" idx="11"/>
          </p:nvPr>
        </p:nvSpPr>
        <p:spPr/>
        <p:txBody>
          <a:bodyPr/>
          <a:lstStyle/>
          <a:p>
            <a:r>
              <a:rPr lang="en-US" dirty="0"/>
              <a:t>Dynamic  Health Risk Predictor| Department of Information Science and Engineering</a:t>
            </a:r>
            <a:endParaRPr lang="en-IN" dirty="0"/>
          </a:p>
        </p:txBody>
      </p:sp>
      <p:sp>
        <p:nvSpPr>
          <p:cNvPr id="5" name="Slide Number Placeholder 4">
            <a:extLst>
              <a:ext uri="{FF2B5EF4-FFF2-40B4-BE49-F238E27FC236}">
                <a16:creationId xmlns:a16="http://schemas.microsoft.com/office/drawing/2014/main" id="{28029201-0312-4E64-83A1-BDE09F2A5C8E}"/>
              </a:ext>
            </a:extLst>
          </p:cNvPr>
          <p:cNvSpPr>
            <a:spLocks noGrp="1"/>
          </p:cNvSpPr>
          <p:nvPr>
            <p:ph type="sldNum" sz="quarter" idx="12"/>
          </p:nvPr>
        </p:nvSpPr>
        <p:spPr/>
        <p:txBody>
          <a:bodyPr/>
          <a:lstStyle/>
          <a:p>
            <a:fld id="{1631108B-5D83-4953-8F3A-2D4544B1B95C}" type="slidenum">
              <a:rPr lang="en-IN" smtClean="0"/>
              <a:t>‹#›</a:t>
            </a:fld>
            <a:endParaRPr lang="en-IN" dirty="0"/>
          </a:p>
        </p:txBody>
      </p:sp>
    </p:spTree>
    <p:extLst>
      <p:ext uri="{BB962C8B-B14F-4D97-AF65-F5344CB8AC3E}">
        <p14:creationId xmlns:p14="http://schemas.microsoft.com/office/powerpoint/2010/main" val="2795215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9E67D8-B0AD-455B-A0C0-3D419AA1AA74}"/>
              </a:ext>
            </a:extLst>
          </p:cNvPr>
          <p:cNvSpPr>
            <a:spLocks noGrp="1"/>
          </p:cNvSpPr>
          <p:nvPr>
            <p:ph type="dt" sz="half" idx="10"/>
          </p:nvPr>
        </p:nvSpPr>
        <p:spPr/>
        <p:txBody>
          <a:bodyPr/>
          <a:lstStyle/>
          <a:p>
            <a:fld id="{B4FCD82F-9CCD-4A74-A2B2-049DC46B7A41}" type="datetime1">
              <a:rPr lang="en-IN" smtClean="0"/>
              <a:t>07-06-2026</a:t>
            </a:fld>
            <a:endParaRPr lang="en-IN" dirty="0"/>
          </a:p>
        </p:txBody>
      </p:sp>
      <p:sp>
        <p:nvSpPr>
          <p:cNvPr id="3" name="Footer Placeholder 2">
            <a:extLst>
              <a:ext uri="{FF2B5EF4-FFF2-40B4-BE49-F238E27FC236}">
                <a16:creationId xmlns:a16="http://schemas.microsoft.com/office/drawing/2014/main" id="{43F28D6B-D434-4CDC-B0CC-B07BB80F6E71}"/>
              </a:ext>
            </a:extLst>
          </p:cNvPr>
          <p:cNvSpPr>
            <a:spLocks noGrp="1"/>
          </p:cNvSpPr>
          <p:nvPr>
            <p:ph type="ftr" sz="quarter" idx="11"/>
          </p:nvPr>
        </p:nvSpPr>
        <p:spPr/>
        <p:txBody>
          <a:bodyPr/>
          <a:lstStyle/>
          <a:p>
            <a:r>
              <a:rPr lang="en-US" dirty="0"/>
              <a:t>Dynamic  Health Risk Predictor| Department of Information Science and Engineering</a:t>
            </a:r>
            <a:endParaRPr lang="en-IN" dirty="0"/>
          </a:p>
        </p:txBody>
      </p:sp>
      <p:sp>
        <p:nvSpPr>
          <p:cNvPr id="4" name="Slide Number Placeholder 3">
            <a:extLst>
              <a:ext uri="{FF2B5EF4-FFF2-40B4-BE49-F238E27FC236}">
                <a16:creationId xmlns:a16="http://schemas.microsoft.com/office/drawing/2014/main" id="{E0D392A6-98FA-437D-87A2-34F60479DE20}"/>
              </a:ext>
            </a:extLst>
          </p:cNvPr>
          <p:cNvSpPr>
            <a:spLocks noGrp="1"/>
          </p:cNvSpPr>
          <p:nvPr>
            <p:ph type="sldNum" sz="quarter" idx="12"/>
          </p:nvPr>
        </p:nvSpPr>
        <p:spPr/>
        <p:txBody>
          <a:bodyPr/>
          <a:lstStyle/>
          <a:p>
            <a:fld id="{1631108B-5D83-4953-8F3A-2D4544B1B95C}" type="slidenum">
              <a:rPr lang="en-IN" smtClean="0"/>
              <a:t>‹#›</a:t>
            </a:fld>
            <a:endParaRPr lang="en-IN" dirty="0"/>
          </a:p>
        </p:txBody>
      </p:sp>
    </p:spTree>
    <p:extLst>
      <p:ext uri="{BB962C8B-B14F-4D97-AF65-F5344CB8AC3E}">
        <p14:creationId xmlns:p14="http://schemas.microsoft.com/office/powerpoint/2010/main" val="3021452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F280B-1FDA-46C7-A442-43841C1395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5B207AB-DD19-47AA-AD75-90600649B3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EF1BE37-1A31-4543-824B-49A0062FEB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2BBF51-C0CC-41FD-8900-BFCBFF6BDBCD}"/>
              </a:ext>
            </a:extLst>
          </p:cNvPr>
          <p:cNvSpPr>
            <a:spLocks noGrp="1"/>
          </p:cNvSpPr>
          <p:nvPr>
            <p:ph type="dt" sz="half" idx="10"/>
          </p:nvPr>
        </p:nvSpPr>
        <p:spPr/>
        <p:txBody>
          <a:bodyPr/>
          <a:lstStyle/>
          <a:p>
            <a:fld id="{D9A75676-DA14-4817-A26A-B12BCA7EC562}" type="datetime1">
              <a:rPr lang="en-IN" smtClean="0"/>
              <a:t>07-06-2026</a:t>
            </a:fld>
            <a:endParaRPr lang="en-IN" dirty="0"/>
          </a:p>
        </p:txBody>
      </p:sp>
      <p:sp>
        <p:nvSpPr>
          <p:cNvPr id="6" name="Footer Placeholder 5">
            <a:extLst>
              <a:ext uri="{FF2B5EF4-FFF2-40B4-BE49-F238E27FC236}">
                <a16:creationId xmlns:a16="http://schemas.microsoft.com/office/drawing/2014/main" id="{EA27A22A-9F24-4D69-8CFB-C7CD5AF62F95}"/>
              </a:ext>
            </a:extLst>
          </p:cNvPr>
          <p:cNvSpPr>
            <a:spLocks noGrp="1"/>
          </p:cNvSpPr>
          <p:nvPr>
            <p:ph type="ftr" sz="quarter" idx="11"/>
          </p:nvPr>
        </p:nvSpPr>
        <p:spPr/>
        <p:txBody>
          <a:bodyPr/>
          <a:lstStyle/>
          <a:p>
            <a:r>
              <a:rPr lang="en-US" dirty="0"/>
              <a:t>Dynamic  Health Risk Predictor| Department of Information Science and Engineering</a:t>
            </a:r>
            <a:endParaRPr lang="en-IN" dirty="0"/>
          </a:p>
        </p:txBody>
      </p:sp>
      <p:sp>
        <p:nvSpPr>
          <p:cNvPr id="7" name="Slide Number Placeholder 6">
            <a:extLst>
              <a:ext uri="{FF2B5EF4-FFF2-40B4-BE49-F238E27FC236}">
                <a16:creationId xmlns:a16="http://schemas.microsoft.com/office/drawing/2014/main" id="{BFF73529-DB74-4470-86BA-47EC2BA17B8C}"/>
              </a:ext>
            </a:extLst>
          </p:cNvPr>
          <p:cNvSpPr>
            <a:spLocks noGrp="1"/>
          </p:cNvSpPr>
          <p:nvPr>
            <p:ph type="sldNum" sz="quarter" idx="12"/>
          </p:nvPr>
        </p:nvSpPr>
        <p:spPr/>
        <p:txBody>
          <a:bodyPr/>
          <a:lstStyle/>
          <a:p>
            <a:fld id="{1631108B-5D83-4953-8F3A-2D4544B1B95C}" type="slidenum">
              <a:rPr lang="en-IN" smtClean="0"/>
              <a:t>‹#›</a:t>
            </a:fld>
            <a:endParaRPr lang="en-IN" dirty="0"/>
          </a:p>
        </p:txBody>
      </p:sp>
    </p:spTree>
    <p:extLst>
      <p:ext uri="{BB962C8B-B14F-4D97-AF65-F5344CB8AC3E}">
        <p14:creationId xmlns:p14="http://schemas.microsoft.com/office/powerpoint/2010/main" val="2221804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A32C5-3865-4BBF-855E-63BB839036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E4E663-86C8-46AC-90E6-3EC8011ED6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D80ED078-6054-420A-8D0F-849AC33261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C8CF86-A87F-467B-8614-7EA5A8D98C24}"/>
              </a:ext>
            </a:extLst>
          </p:cNvPr>
          <p:cNvSpPr>
            <a:spLocks noGrp="1"/>
          </p:cNvSpPr>
          <p:nvPr>
            <p:ph type="dt" sz="half" idx="10"/>
          </p:nvPr>
        </p:nvSpPr>
        <p:spPr/>
        <p:txBody>
          <a:bodyPr/>
          <a:lstStyle/>
          <a:p>
            <a:fld id="{A8975BD4-3C3D-4522-BA57-AAB212B87C2C}" type="datetime1">
              <a:rPr lang="en-IN" smtClean="0"/>
              <a:t>07-06-2026</a:t>
            </a:fld>
            <a:endParaRPr lang="en-IN" dirty="0"/>
          </a:p>
        </p:txBody>
      </p:sp>
      <p:sp>
        <p:nvSpPr>
          <p:cNvPr id="6" name="Footer Placeholder 5">
            <a:extLst>
              <a:ext uri="{FF2B5EF4-FFF2-40B4-BE49-F238E27FC236}">
                <a16:creationId xmlns:a16="http://schemas.microsoft.com/office/drawing/2014/main" id="{04FB4CD0-5320-4DA5-9637-2F733BE5FA56}"/>
              </a:ext>
            </a:extLst>
          </p:cNvPr>
          <p:cNvSpPr>
            <a:spLocks noGrp="1"/>
          </p:cNvSpPr>
          <p:nvPr>
            <p:ph type="ftr" sz="quarter" idx="11"/>
          </p:nvPr>
        </p:nvSpPr>
        <p:spPr/>
        <p:txBody>
          <a:bodyPr/>
          <a:lstStyle/>
          <a:p>
            <a:r>
              <a:rPr lang="en-US" dirty="0"/>
              <a:t>Dynamic  Health Risk Predictor| Department of Information Science and Engineering</a:t>
            </a:r>
            <a:endParaRPr lang="en-IN" dirty="0"/>
          </a:p>
        </p:txBody>
      </p:sp>
      <p:sp>
        <p:nvSpPr>
          <p:cNvPr id="7" name="Slide Number Placeholder 6">
            <a:extLst>
              <a:ext uri="{FF2B5EF4-FFF2-40B4-BE49-F238E27FC236}">
                <a16:creationId xmlns:a16="http://schemas.microsoft.com/office/drawing/2014/main" id="{38152487-B7C6-4D63-BB58-6885127C57AE}"/>
              </a:ext>
            </a:extLst>
          </p:cNvPr>
          <p:cNvSpPr>
            <a:spLocks noGrp="1"/>
          </p:cNvSpPr>
          <p:nvPr>
            <p:ph type="sldNum" sz="quarter" idx="12"/>
          </p:nvPr>
        </p:nvSpPr>
        <p:spPr/>
        <p:txBody>
          <a:bodyPr/>
          <a:lstStyle/>
          <a:p>
            <a:fld id="{1631108B-5D83-4953-8F3A-2D4544B1B95C}" type="slidenum">
              <a:rPr lang="en-IN" smtClean="0"/>
              <a:t>‹#›</a:t>
            </a:fld>
            <a:endParaRPr lang="en-IN" dirty="0"/>
          </a:p>
        </p:txBody>
      </p:sp>
    </p:spTree>
    <p:extLst>
      <p:ext uri="{BB962C8B-B14F-4D97-AF65-F5344CB8AC3E}">
        <p14:creationId xmlns:p14="http://schemas.microsoft.com/office/powerpoint/2010/main" val="1208314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1B271-BD71-41A4-ADFA-0064B76BD39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520ED4-EC91-4643-8B1E-33D771097F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6EAFB5-5ABE-4B92-AADE-C563297001D4}"/>
              </a:ext>
            </a:extLst>
          </p:cNvPr>
          <p:cNvSpPr>
            <a:spLocks noGrp="1"/>
          </p:cNvSpPr>
          <p:nvPr>
            <p:ph type="dt" sz="half" idx="10"/>
          </p:nvPr>
        </p:nvSpPr>
        <p:spPr/>
        <p:txBody>
          <a:bodyPr/>
          <a:lstStyle/>
          <a:p>
            <a:fld id="{E9CF11CD-E956-455E-B945-3EFA1DD3A5A4}" type="datetime1">
              <a:rPr lang="en-IN" smtClean="0"/>
              <a:t>07-06-2026</a:t>
            </a:fld>
            <a:endParaRPr lang="en-IN" dirty="0"/>
          </a:p>
        </p:txBody>
      </p:sp>
      <p:sp>
        <p:nvSpPr>
          <p:cNvPr id="5" name="Footer Placeholder 4">
            <a:extLst>
              <a:ext uri="{FF2B5EF4-FFF2-40B4-BE49-F238E27FC236}">
                <a16:creationId xmlns:a16="http://schemas.microsoft.com/office/drawing/2014/main" id="{265F9D3C-A882-4D84-9CCE-899F0AD919B1}"/>
              </a:ext>
            </a:extLst>
          </p:cNvPr>
          <p:cNvSpPr>
            <a:spLocks noGrp="1"/>
          </p:cNvSpPr>
          <p:nvPr>
            <p:ph type="ftr" sz="quarter" idx="11"/>
          </p:nvPr>
        </p:nvSpPr>
        <p:spPr/>
        <p:txBody>
          <a:bodyPr/>
          <a:lstStyle/>
          <a:p>
            <a:r>
              <a:rPr lang="en-US" dirty="0"/>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8F485418-9989-4C26-BE93-EBE24E8BED7D}"/>
              </a:ext>
            </a:extLst>
          </p:cNvPr>
          <p:cNvSpPr>
            <a:spLocks noGrp="1"/>
          </p:cNvSpPr>
          <p:nvPr>
            <p:ph type="sldNum" sz="quarter" idx="12"/>
          </p:nvPr>
        </p:nvSpPr>
        <p:spPr/>
        <p:txBody>
          <a:bodyPr/>
          <a:lstStyle/>
          <a:p>
            <a:fld id="{1631108B-5D83-4953-8F3A-2D4544B1B95C}" type="slidenum">
              <a:rPr lang="en-IN" smtClean="0"/>
              <a:t>‹#›</a:t>
            </a:fld>
            <a:endParaRPr lang="en-IN" dirty="0"/>
          </a:p>
        </p:txBody>
      </p:sp>
    </p:spTree>
    <p:extLst>
      <p:ext uri="{BB962C8B-B14F-4D97-AF65-F5344CB8AC3E}">
        <p14:creationId xmlns:p14="http://schemas.microsoft.com/office/powerpoint/2010/main" val="3502542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FC7FCB-8000-492C-8470-5BBE49A85D1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E898FBE-0DF3-46B5-991B-EB41A31161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51AD7C-1FFF-4E87-A2C6-C577B96DDA60}"/>
              </a:ext>
            </a:extLst>
          </p:cNvPr>
          <p:cNvSpPr>
            <a:spLocks noGrp="1"/>
          </p:cNvSpPr>
          <p:nvPr>
            <p:ph type="dt" sz="half" idx="10"/>
          </p:nvPr>
        </p:nvSpPr>
        <p:spPr/>
        <p:txBody>
          <a:bodyPr/>
          <a:lstStyle/>
          <a:p>
            <a:fld id="{D432BC37-61E2-4720-AB89-4A0C9B81435A}" type="datetime1">
              <a:rPr lang="en-IN" smtClean="0"/>
              <a:t>07-06-2026</a:t>
            </a:fld>
            <a:endParaRPr lang="en-IN" dirty="0"/>
          </a:p>
        </p:txBody>
      </p:sp>
      <p:sp>
        <p:nvSpPr>
          <p:cNvPr id="5" name="Footer Placeholder 4">
            <a:extLst>
              <a:ext uri="{FF2B5EF4-FFF2-40B4-BE49-F238E27FC236}">
                <a16:creationId xmlns:a16="http://schemas.microsoft.com/office/drawing/2014/main" id="{E1A6B0D3-6255-40A1-999A-0BCC265DA175}"/>
              </a:ext>
            </a:extLst>
          </p:cNvPr>
          <p:cNvSpPr>
            <a:spLocks noGrp="1"/>
          </p:cNvSpPr>
          <p:nvPr>
            <p:ph type="ftr" sz="quarter" idx="11"/>
          </p:nvPr>
        </p:nvSpPr>
        <p:spPr/>
        <p:txBody>
          <a:bodyPr/>
          <a:lstStyle/>
          <a:p>
            <a:r>
              <a:rPr lang="en-US" dirty="0"/>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930525B5-0CBE-44B7-9FCB-8244A5FD1076}"/>
              </a:ext>
            </a:extLst>
          </p:cNvPr>
          <p:cNvSpPr>
            <a:spLocks noGrp="1"/>
          </p:cNvSpPr>
          <p:nvPr>
            <p:ph type="sldNum" sz="quarter" idx="12"/>
          </p:nvPr>
        </p:nvSpPr>
        <p:spPr/>
        <p:txBody>
          <a:bodyPr/>
          <a:lstStyle/>
          <a:p>
            <a:fld id="{1631108B-5D83-4953-8F3A-2D4544B1B95C}" type="slidenum">
              <a:rPr lang="en-IN" smtClean="0"/>
              <a:t>‹#›</a:t>
            </a:fld>
            <a:endParaRPr lang="en-IN" dirty="0"/>
          </a:p>
        </p:txBody>
      </p:sp>
    </p:spTree>
    <p:extLst>
      <p:ext uri="{BB962C8B-B14F-4D97-AF65-F5344CB8AC3E}">
        <p14:creationId xmlns:p14="http://schemas.microsoft.com/office/powerpoint/2010/main" val="3706280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655550-7ED8-47EA-B17A-CAB2D198A9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B19CF7-88CB-46E0-9659-22E763C969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A3C965-47C2-4E84-B1E3-7FE3DC896C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2A6FAC-74AE-4EE7-AA98-EA73129EA8C8}" type="datetime1">
              <a:rPr lang="en-IN" smtClean="0"/>
              <a:t>07-06-2026</a:t>
            </a:fld>
            <a:endParaRPr lang="en-IN" dirty="0"/>
          </a:p>
        </p:txBody>
      </p:sp>
      <p:sp>
        <p:nvSpPr>
          <p:cNvPr id="5" name="Footer Placeholder 4">
            <a:extLst>
              <a:ext uri="{FF2B5EF4-FFF2-40B4-BE49-F238E27FC236}">
                <a16:creationId xmlns:a16="http://schemas.microsoft.com/office/drawing/2014/main" id="{DB56ED3F-D1BC-4116-A066-A1EDAC2195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C088BFA3-FB91-4A27-9CB3-8F216DFBDA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31108B-5D83-4953-8F3A-2D4544B1B95C}" type="slidenum">
              <a:rPr lang="en-IN" smtClean="0"/>
              <a:t>‹#›</a:t>
            </a:fld>
            <a:endParaRPr lang="en-IN" dirty="0"/>
          </a:p>
        </p:txBody>
      </p:sp>
    </p:spTree>
    <p:extLst>
      <p:ext uri="{BB962C8B-B14F-4D97-AF65-F5344CB8AC3E}">
        <p14:creationId xmlns:p14="http://schemas.microsoft.com/office/powerpoint/2010/main" val="24650094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s://pmc.ncbi.nlm.nih.gov/articles/PMC12693838/" TargetMode="External"/><Relationship Id="rId13" Type="http://schemas.openxmlformats.org/officeDocument/2006/relationships/hyperlink" Target="https://www.mdpi.com/1424-8220/25/3/761" TargetMode="External"/><Relationship Id="rId3" Type="http://schemas.openxmlformats.org/officeDocument/2006/relationships/hyperlink" Target="https://arxiv.org/html/2508.03436v1" TargetMode="External"/><Relationship Id="rId7" Type="http://schemas.openxmlformats.org/officeDocument/2006/relationships/hyperlink" Target="https://pmc.ncbi.nlm.nih.gov/articles/PMC11519529/" TargetMode="External"/><Relationship Id="rId12" Type="http://schemas.openxmlformats.org/officeDocument/2006/relationships/hyperlink" Target="https://research.google/blog/sensorlm-learning-the-language-of-wearable-sensors/" TargetMode="External"/><Relationship Id="rId2" Type="http://schemas.openxmlformats.org/officeDocument/2006/relationships/hyperlink" Target="https://arxiv.org/html/2601.12227v1" TargetMode="External"/><Relationship Id="rId1" Type="http://schemas.openxmlformats.org/officeDocument/2006/relationships/slideLayout" Target="../slideLayouts/slideLayout2.xml"/><Relationship Id="rId6" Type="http://schemas.openxmlformats.org/officeDocument/2006/relationships/hyperlink" Target="https://pmc.ncbi.nlm.nih.gov/articles/PMC12810407/" TargetMode="External"/><Relationship Id="rId11" Type="http://schemas.openxmlformats.org/officeDocument/2006/relationships/hyperlink" Target="https://journals.physiology.org/doi/10.1152/ajpheart.00738.2025" TargetMode="External"/><Relationship Id="rId5" Type="http://schemas.openxmlformats.org/officeDocument/2006/relationships/hyperlink" Target="https://www.frontiersin.org/journals/sports-and-active-living/articles/10.3389/fspor.2025.1629924/full" TargetMode="External"/><Relationship Id="rId10" Type="http://schemas.openxmlformats.org/officeDocument/2006/relationships/hyperlink" Target="https://ieeexplore.ieee.org/document/10871508/" TargetMode="External"/><Relationship Id="rId4" Type="http://schemas.openxmlformats.org/officeDocument/2006/relationships/hyperlink" Target="https://www.jmir.org/2025/1/e77066" TargetMode="External"/><Relationship Id="rId9" Type="http://schemas.openxmlformats.org/officeDocument/2006/relationships/hyperlink" Target="https://www.mdpi.com/2078-2489/16/9/718" TargetMode="External"/><Relationship Id="rId14" Type="http://schemas.openxmlformats.org/officeDocument/2006/relationships/hyperlink" Target="https://www.mdpi.com/2624-6120/6/4/67"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76372E7-E6EE-48C7-A823-0B211FAF2B2F}"/>
              </a:ext>
            </a:extLst>
          </p:cNvPr>
          <p:cNvSpPr>
            <a:spLocks noGrp="1"/>
          </p:cNvSpPr>
          <p:nvPr>
            <p:ph type="ctrTitle"/>
          </p:nvPr>
        </p:nvSpPr>
        <p:spPr>
          <a:xfrm>
            <a:off x="1523999" y="1273386"/>
            <a:ext cx="9144000" cy="642500"/>
          </a:xfrm>
        </p:spPr>
        <p:txBody>
          <a:bodyPr>
            <a:noAutofit/>
          </a:bodyPr>
          <a:lstStyle/>
          <a:p>
            <a:pPr>
              <a:lnSpc>
                <a:spcPct val="150000"/>
              </a:lnSpc>
            </a:pPr>
            <a:r>
              <a:rPr lang="en-US" altLang="en-US" sz="3200" b="1" dirty="0">
                <a:solidFill>
                  <a:schemeClr val="bg1"/>
                </a:solidFill>
              </a:rPr>
              <a:t>Department of Information Science and Engineering</a:t>
            </a:r>
            <a:endParaRPr lang="en-IN" sz="3200" b="1" dirty="0">
              <a:solidFill>
                <a:schemeClr val="bg1"/>
              </a:solidFill>
            </a:endParaRPr>
          </a:p>
        </p:txBody>
      </p:sp>
      <p:sp>
        <p:nvSpPr>
          <p:cNvPr id="3" name="Subtitle 2">
            <a:extLst>
              <a:ext uri="{FF2B5EF4-FFF2-40B4-BE49-F238E27FC236}">
                <a16:creationId xmlns:a16="http://schemas.microsoft.com/office/drawing/2014/main" id="{B6EADE57-8E79-41A6-9FD1-489132DC3994}"/>
              </a:ext>
            </a:extLst>
          </p:cNvPr>
          <p:cNvSpPr>
            <a:spLocks noGrp="1"/>
          </p:cNvSpPr>
          <p:nvPr>
            <p:ph type="subTitle" idx="1"/>
          </p:nvPr>
        </p:nvSpPr>
        <p:spPr>
          <a:xfrm>
            <a:off x="106216" y="2716931"/>
            <a:ext cx="11979563" cy="1385810"/>
          </a:xfrm>
        </p:spPr>
        <p:txBody>
          <a:bodyPr>
            <a:normAutofit/>
          </a:bodyPr>
          <a:lstStyle/>
          <a:p>
            <a:pPr>
              <a:lnSpc>
                <a:spcPct val="150000"/>
              </a:lnSpc>
              <a:defRPr/>
            </a:pPr>
            <a:r>
              <a:rPr lang="en-US" sz="4400" dirty="0"/>
              <a:t>Dynamic Health Risk Predictor</a:t>
            </a:r>
            <a:endParaRPr lang="en-US" sz="4400" b="1" dirty="0">
              <a:solidFill>
                <a:srgbClr val="00359E"/>
              </a:solidFill>
            </a:endParaRPr>
          </a:p>
        </p:txBody>
      </p:sp>
      <p:pic>
        <p:nvPicPr>
          <p:cNvPr id="6" name="Picture 5">
            <a:extLst>
              <a:ext uri="{FF2B5EF4-FFF2-40B4-BE49-F238E27FC236}">
                <a16:creationId xmlns:a16="http://schemas.microsoft.com/office/drawing/2014/main" id="{39E32A07-D7CF-405C-860C-A3CEBB1C06C7}"/>
              </a:ext>
            </a:extLst>
          </p:cNvPr>
          <p:cNvPicPr>
            <a:picLocks noChangeAspect="1"/>
          </p:cNvPicPr>
          <p:nvPr/>
        </p:nvPicPr>
        <p:blipFill>
          <a:blip r:embed="rId2"/>
          <a:stretch>
            <a:fillRect/>
          </a:stretch>
        </p:blipFill>
        <p:spPr>
          <a:xfrm>
            <a:off x="2342645" y="209550"/>
            <a:ext cx="7506711" cy="955849"/>
          </a:xfrm>
          <a:prstGeom prst="rect">
            <a:avLst/>
          </a:prstGeom>
        </p:spPr>
      </p:pic>
      <p:sp>
        <p:nvSpPr>
          <p:cNvPr id="4" name="Rectangle 3">
            <a:extLst>
              <a:ext uri="{FF2B5EF4-FFF2-40B4-BE49-F238E27FC236}">
                <a16:creationId xmlns:a16="http://schemas.microsoft.com/office/drawing/2014/main" id="{856015E2-8CBD-4CD7-96CD-D8B804AE9228}"/>
              </a:ext>
            </a:extLst>
          </p:cNvPr>
          <p:cNvSpPr/>
          <p:nvPr/>
        </p:nvSpPr>
        <p:spPr>
          <a:xfrm>
            <a:off x="0" y="-1"/>
            <a:ext cx="12192000" cy="2050474"/>
          </a:xfrm>
          <a:prstGeom prst="rect">
            <a:avLst/>
          </a:prstGeom>
          <a:solidFill>
            <a:srgbClr val="0035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881" dirty="0"/>
          </a:p>
        </p:txBody>
      </p:sp>
      <p:pic>
        <p:nvPicPr>
          <p:cNvPr id="9" name="Picture 8">
            <a:extLst>
              <a:ext uri="{FF2B5EF4-FFF2-40B4-BE49-F238E27FC236}">
                <a16:creationId xmlns:a16="http://schemas.microsoft.com/office/drawing/2014/main" id="{6BAC882B-C863-4CC4-AAB5-4F7691416F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218" y="-1545182"/>
            <a:ext cx="12085782" cy="4262113"/>
          </a:xfrm>
          <a:prstGeom prst="rect">
            <a:avLst/>
          </a:prstGeom>
        </p:spPr>
      </p:pic>
      <p:sp>
        <p:nvSpPr>
          <p:cNvPr id="13" name="Rectangle 12">
            <a:extLst>
              <a:ext uri="{FF2B5EF4-FFF2-40B4-BE49-F238E27FC236}">
                <a16:creationId xmlns:a16="http://schemas.microsoft.com/office/drawing/2014/main" id="{E20E6EE0-C3A2-4143-B00A-06140181D2FF}"/>
              </a:ext>
            </a:extLst>
          </p:cNvPr>
          <p:cNvSpPr/>
          <p:nvPr/>
        </p:nvSpPr>
        <p:spPr>
          <a:xfrm>
            <a:off x="0" y="5892800"/>
            <a:ext cx="12192000" cy="1110673"/>
          </a:xfrm>
          <a:prstGeom prst="rect">
            <a:avLst/>
          </a:prstGeom>
          <a:solidFill>
            <a:srgbClr val="0035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4881" dirty="0"/>
          </a:p>
        </p:txBody>
      </p:sp>
      <p:sp>
        <p:nvSpPr>
          <p:cNvPr id="16" name="TextBox 15">
            <a:extLst>
              <a:ext uri="{FF2B5EF4-FFF2-40B4-BE49-F238E27FC236}">
                <a16:creationId xmlns:a16="http://schemas.microsoft.com/office/drawing/2014/main" id="{72958274-3335-49E0-91B0-C65F891062E8}"/>
              </a:ext>
            </a:extLst>
          </p:cNvPr>
          <p:cNvSpPr txBox="1"/>
          <p:nvPr/>
        </p:nvSpPr>
        <p:spPr>
          <a:xfrm>
            <a:off x="1206500" y="6063675"/>
            <a:ext cx="9779000" cy="584775"/>
          </a:xfrm>
          <a:prstGeom prst="rect">
            <a:avLst/>
          </a:prstGeom>
          <a:noFill/>
        </p:spPr>
        <p:txBody>
          <a:bodyPr wrap="square" rtlCol="0">
            <a:spAutoFit/>
          </a:bodyPr>
          <a:lstStyle/>
          <a:p>
            <a:pPr algn="ctr"/>
            <a:r>
              <a:rPr lang="en-IN" sz="3200" b="1" dirty="0">
                <a:solidFill>
                  <a:schemeClr val="bg1"/>
                </a:solidFill>
              </a:rPr>
              <a:t>Date-07-06-26</a:t>
            </a:r>
          </a:p>
        </p:txBody>
      </p:sp>
      <p:sp>
        <p:nvSpPr>
          <p:cNvPr id="2" name="TextBox 1">
            <a:extLst>
              <a:ext uri="{FF2B5EF4-FFF2-40B4-BE49-F238E27FC236}">
                <a16:creationId xmlns:a16="http://schemas.microsoft.com/office/drawing/2014/main" id="{641CBF25-3D67-4B37-8DFD-9239E0B7847A}"/>
              </a:ext>
            </a:extLst>
          </p:cNvPr>
          <p:cNvSpPr txBox="1"/>
          <p:nvPr/>
        </p:nvSpPr>
        <p:spPr>
          <a:xfrm>
            <a:off x="106217" y="1187286"/>
            <a:ext cx="11979563" cy="523220"/>
          </a:xfrm>
          <a:prstGeom prst="rect">
            <a:avLst/>
          </a:prstGeom>
          <a:noFill/>
        </p:spPr>
        <p:txBody>
          <a:bodyPr wrap="square" rtlCol="0">
            <a:spAutoFit/>
          </a:bodyPr>
          <a:lstStyle/>
          <a:p>
            <a:pPr algn="ctr"/>
            <a:r>
              <a:rPr lang="en-US" sz="2800" b="1" dirty="0">
                <a:solidFill>
                  <a:schemeClr val="bg1"/>
                </a:solidFill>
              </a:rPr>
              <a:t>Department of Information Science and Engineering</a:t>
            </a:r>
            <a:endParaRPr lang="en-IN" sz="2800" b="1" dirty="0">
              <a:solidFill>
                <a:schemeClr val="bg1"/>
              </a:solidFill>
            </a:endParaRPr>
          </a:p>
        </p:txBody>
      </p:sp>
      <p:sp>
        <p:nvSpPr>
          <p:cNvPr id="5" name="TextBox 4">
            <a:extLst>
              <a:ext uri="{FF2B5EF4-FFF2-40B4-BE49-F238E27FC236}">
                <a16:creationId xmlns:a16="http://schemas.microsoft.com/office/drawing/2014/main" id="{36894885-9C8F-4EF2-8D33-CC059B3A60C3}"/>
              </a:ext>
            </a:extLst>
          </p:cNvPr>
          <p:cNvSpPr txBox="1"/>
          <p:nvPr/>
        </p:nvSpPr>
        <p:spPr>
          <a:xfrm>
            <a:off x="-5" y="2220598"/>
            <a:ext cx="12192000" cy="523220"/>
          </a:xfrm>
          <a:prstGeom prst="rect">
            <a:avLst/>
          </a:prstGeom>
          <a:noFill/>
        </p:spPr>
        <p:txBody>
          <a:bodyPr wrap="square" rtlCol="0">
            <a:spAutoFit/>
          </a:bodyPr>
          <a:lstStyle/>
          <a:p>
            <a:pPr algn="ctr"/>
            <a:r>
              <a:rPr lang="en-IN" sz="2800" b="1" dirty="0"/>
              <a:t>Project Phase-I</a:t>
            </a:r>
          </a:p>
        </p:txBody>
      </p:sp>
      <p:sp>
        <p:nvSpPr>
          <p:cNvPr id="11" name="TextBox 10">
            <a:extLst>
              <a:ext uri="{FF2B5EF4-FFF2-40B4-BE49-F238E27FC236}">
                <a16:creationId xmlns:a16="http://schemas.microsoft.com/office/drawing/2014/main" id="{979BEA96-7E44-4152-9008-F603D75DF5A9}"/>
              </a:ext>
            </a:extLst>
          </p:cNvPr>
          <p:cNvSpPr txBox="1"/>
          <p:nvPr/>
        </p:nvSpPr>
        <p:spPr>
          <a:xfrm>
            <a:off x="0" y="3975145"/>
            <a:ext cx="4359564" cy="2031325"/>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Project Batch and USN</a:t>
            </a:r>
          </a:p>
          <a:p>
            <a:pPr algn="ctr"/>
            <a:endParaRPr lang="en-IN" b="1" dirty="0">
              <a:latin typeface="Times New Roman" panose="02020603050405020304" pitchFamily="18" charset="0"/>
              <a:cs typeface="Times New Roman" panose="02020603050405020304" pitchFamily="18" charset="0"/>
            </a:endParaRPr>
          </a:p>
          <a:p>
            <a:pPr algn="ctr"/>
            <a:r>
              <a:rPr lang="en-IN" b="1" dirty="0">
                <a:latin typeface="Times New Roman" panose="02020603050405020304" pitchFamily="18" charset="0"/>
                <a:cs typeface="Times New Roman" panose="02020603050405020304" pitchFamily="18" charset="0"/>
              </a:rPr>
              <a:t>NIGAM L RAJ -1NT23IS142</a:t>
            </a:r>
          </a:p>
          <a:p>
            <a:pPr algn="ctr"/>
            <a:r>
              <a:rPr lang="en-IN" b="1" dirty="0">
                <a:latin typeface="Times New Roman" panose="02020603050405020304" pitchFamily="18" charset="0"/>
                <a:cs typeface="Times New Roman" panose="02020603050405020304" pitchFamily="18" charset="0"/>
              </a:rPr>
              <a:t>PRAJWAL R-1NT23IS158</a:t>
            </a:r>
          </a:p>
          <a:p>
            <a:pPr algn="ctr"/>
            <a:r>
              <a:rPr lang="en-IN" b="1" dirty="0">
                <a:latin typeface="Times New Roman" panose="02020603050405020304" pitchFamily="18" charset="0"/>
                <a:cs typeface="Times New Roman" panose="02020603050405020304" pitchFamily="18" charset="0"/>
              </a:rPr>
              <a:t>S.LOKESH-1NT23IS184</a:t>
            </a:r>
          </a:p>
          <a:p>
            <a:pPr algn="ctr"/>
            <a:r>
              <a:rPr lang="en-IN" b="1" dirty="0">
                <a:latin typeface="Times New Roman" panose="02020603050405020304" pitchFamily="18" charset="0"/>
                <a:cs typeface="Times New Roman" panose="02020603050405020304" pitchFamily="18" charset="0"/>
              </a:rPr>
              <a:t>SACHIN S.K-1NT23IS186</a:t>
            </a:r>
          </a:p>
          <a:p>
            <a:pPr algn="ctr"/>
            <a:endParaRPr lang="en-IN"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061EC3FB-1226-4611-8F44-7507D647E0F4}"/>
              </a:ext>
            </a:extLst>
          </p:cNvPr>
          <p:cNvSpPr txBox="1"/>
          <p:nvPr/>
        </p:nvSpPr>
        <p:spPr>
          <a:xfrm>
            <a:off x="7601527" y="3980063"/>
            <a:ext cx="4590468" cy="646331"/>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Guide Name, and Designation</a:t>
            </a:r>
          </a:p>
          <a:p>
            <a:pPr algn="ctr"/>
            <a:r>
              <a:rPr lang="en-IN" b="1" dirty="0">
                <a:latin typeface="Times New Roman" panose="02020603050405020304" pitchFamily="18" charset="0"/>
                <a:cs typeface="Times New Roman" panose="02020603050405020304" pitchFamily="18" charset="0"/>
              </a:rPr>
              <a:t>Mrs.Lakshmi M,Assistant Professor</a:t>
            </a:r>
          </a:p>
        </p:txBody>
      </p:sp>
    </p:spTree>
    <p:extLst>
      <p:ext uri="{BB962C8B-B14F-4D97-AF65-F5344CB8AC3E}">
        <p14:creationId xmlns:p14="http://schemas.microsoft.com/office/powerpoint/2010/main" val="4174056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A97EF-CB46-47EC-94F8-34CAA3691C9C}"/>
              </a:ext>
            </a:extLst>
          </p:cNvPr>
          <p:cNvSpPr>
            <a:spLocks noGrp="1"/>
          </p:cNvSpPr>
          <p:nvPr>
            <p:ph type="title"/>
          </p:nvPr>
        </p:nvSpPr>
        <p:spPr/>
        <p:txBody>
          <a:bodyPr/>
          <a:lstStyle/>
          <a:p>
            <a:r>
              <a:rPr lang="en-IN" dirty="0"/>
              <a:t>Contents</a:t>
            </a:r>
          </a:p>
        </p:txBody>
      </p:sp>
      <p:sp>
        <p:nvSpPr>
          <p:cNvPr id="3" name="Content Placeholder 2">
            <a:extLst>
              <a:ext uri="{FF2B5EF4-FFF2-40B4-BE49-F238E27FC236}">
                <a16:creationId xmlns:a16="http://schemas.microsoft.com/office/drawing/2014/main" id="{6D705548-875B-4EED-9CEB-936D0E80DF59}"/>
              </a:ext>
            </a:extLst>
          </p:cNvPr>
          <p:cNvSpPr>
            <a:spLocks noGrp="1"/>
          </p:cNvSpPr>
          <p:nvPr>
            <p:ph idx="1"/>
          </p:nvPr>
        </p:nvSpPr>
        <p:spPr>
          <a:xfrm>
            <a:off x="471055" y="1575591"/>
            <a:ext cx="11314545" cy="4435244"/>
          </a:xfrm>
        </p:spPr>
        <p:txBody>
          <a:bodyPr>
            <a:normAutofit fontScale="92500" lnSpcReduction="20000"/>
          </a:bodyPr>
          <a:lstStyle/>
          <a:p>
            <a:pPr>
              <a:lnSpc>
                <a:spcPct val="110000"/>
              </a:lnSpc>
            </a:pPr>
            <a:r>
              <a:rPr lang="en-IN" dirty="0">
                <a:latin typeface="Times New Roman" panose="02020603050405020304" pitchFamily="18" charset="0"/>
                <a:cs typeface="Times New Roman" panose="02020603050405020304" pitchFamily="18" charset="0"/>
              </a:rPr>
              <a:t>Introduction</a:t>
            </a:r>
          </a:p>
          <a:p>
            <a:pPr>
              <a:lnSpc>
                <a:spcPct val="110000"/>
              </a:lnSpc>
            </a:pPr>
            <a:r>
              <a:rPr lang="en-IN" dirty="0">
                <a:latin typeface="Times New Roman" panose="02020603050405020304" pitchFamily="18" charset="0"/>
                <a:cs typeface="Times New Roman" panose="02020603050405020304" pitchFamily="18" charset="0"/>
              </a:rPr>
              <a:t>Research gaps/motivation</a:t>
            </a:r>
          </a:p>
          <a:p>
            <a:pPr>
              <a:lnSpc>
                <a:spcPct val="110000"/>
              </a:lnSpc>
            </a:pPr>
            <a:r>
              <a:rPr lang="en-IN" dirty="0">
                <a:latin typeface="Times New Roman" panose="02020603050405020304" pitchFamily="18" charset="0"/>
                <a:cs typeface="Times New Roman" panose="02020603050405020304" pitchFamily="18" charset="0"/>
              </a:rPr>
              <a:t>Literature brief</a:t>
            </a:r>
          </a:p>
          <a:p>
            <a:pPr>
              <a:lnSpc>
                <a:spcPct val="110000"/>
              </a:lnSpc>
            </a:pPr>
            <a:r>
              <a:rPr lang="en-IN" dirty="0">
                <a:latin typeface="Times New Roman" panose="02020603050405020304" pitchFamily="18" charset="0"/>
                <a:cs typeface="Times New Roman" panose="02020603050405020304" pitchFamily="18" charset="0"/>
              </a:rPr>
              <a:t>Problem Statement</a:t>
            </a:r>
          </a:p>
          <a:p>
            <a:pPr>
              <a:lnSpc>
                <a:spcPct val="110000"/>
              </a:lnSpc>
            </a:pPr>
            <a:r>
              <a:rPr lang="en-IN" dirty="0">
                <a:latin typeface="Times New Roman" panose="02020603050405020304" pitchFamily="18" charset="0"/>
                <a:cs typeface="Times New Roman" panose="02020603050405020304" pitchFamily="18" charset="0"/>
              </a:rPr>
              <a:t>Objectives</a:t>
            </a:r>
          </a:p>
          <a:p>
            <a:pPr>
              <a:lnSpc>
                <a:spcPct val="110000"/>
              </a:lnSpc>
            </a:pPr>
            <a:r>
              <a:rPr lang="en-US" dirty="0">
                <a:latin typeface="Times New Roman" panose="02020603050405020304" pitchFamily="18" charset="0"/>
                <a:cs typeface="Times New Roman" panose="02020603050405020304" pitchFamily="18" charset="0"/>
              </a:rPr>
              <a:t>Framework /Methodology </a:t>
            </a:r>
          </a:p>
          <a:p>
            <a:pPr>
              <a:lnSpc>
                <a:spcPct val="110000"/>
              </a:lnSpc>
            </a:pPr>
            <a:r>
              <a:rPr lang="en-IN" dirty="0">
                <a:latin typeface="Times New Roman" panose="02020603050405020304" pitchFamily="18" charset="0"/>
                <a:cs typeface="Times New Roman" panose="02020603050405020304" pitchFamily="18" charset="0"/>
              </a:rPr>
              <a:t>Flowchart</a:t>
            </a:r>
          </a:p>
          <a:p>
            <a:pPr>
              <a:lnSpc>
                <a:spcPct val="110000"/>
              </a:lnSpc>
            </a:pPr>
            <a:r>
              <a:rPr lang="en-IN" dirty="0">
                <a:latin typeface="Times New Roman" panose="02020603050405020304" pitchFamily="18" charset="0"/>
                <a:cs typeface="Times New Roman" panose="02020603050405020304" pitchFamily="18" charset="0"/>
              </a:rPr>
              <a:t>Implementation</a:t>
            </a:r>
          </a:p>
          <a:p>
            <a:pPr>
              <a:lnSpc>
                <a:spcPct val="110000"/>
              </a:lnSpc>
            </a:pPr>
            <a:r>
              <a:rPr lang="en-IN" dirty="0">
                <a:latin typeface="Times New Roman" panose="02020603050405020304" pitchFamily="18" charset="0"/>
                <a:cs typeface="Times New Roman" panose="02020603050405020304" pitchFamily="18" charset="0"/>
              </a:rPr>
              <a:t>References</a:t>
            </a:r>
          </a:p>
          <a:p>
            <a:pPr>
              <a:lnSpc>
                <a:spcPct val="110000"/>
              </a:lnSpc>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EED37D9-1C1B-439C-9594-3F78DD1F8DDB}"/>
              </a:ext>
            </a:extLst>
          </p:cNvPr>
          <p:cNvSpPr>
            <a:spLocks noGrp="1"/>
          </p:cNvSpPr>
          <p:nvPr>
            <p:ph type="dt" sz="half" idx="10"/>
          </p:nvPr>
        </p:nvSpPr>
        <p:spPr/>
        <p:txBody>
          <a:bodyPr/>
          <a:lstStyle/>
          <a:p>
            <a:r>
              <a:rPr lang="en-IN" b="1" dirty="0"/>
              <a:t>07-06-26</a:t>
            </a:r>
            <a:endParaRPr lang="en-IN" dirty="0"/>
          </a:p>
        </p:txBody>
      </p:sp>
      <p:sp>
        <p:nvSpPr>
          <p:cNvPr id="5" name="Footer Placeholder 4">
            <a:extLst>
              <a:ext uri="{FF2B5EF4-FFF2-40B4-BE49-F238E27FC236}">
                <a16:creationId xmlns:a16="http://schemas.microsoft.com/office/drawing/2014/main" id="{1FBE9508-1F0C-473C-81C6-FA48A5AD4E74}"/>
              </a:ext>
            </a:extLst>
          </p:cNvPr>
          <p:cNvSpPr>
            <a:spLocks noGrp="1"/>
          </p:cNvSpPr>
          <p:nvPr>
            <p:ph type="ftr" sz="quarter" idx="11"/>
          </p:nvPr>
        </p:nvSpPr>
        <p:spPr>
          <a:xfrm>
            <a:off x="4038599" y="6356350"/>
            <a:ext cx="5124061" cy="365125"/>
          </a:xfrm>
        </p:spPr>
        <p:txBody>
          <a:bodyPr/>
          <a:lstStyle/>
          <a:p>
            <a:r>
              <a:rPr lang="en-US" dirty="0"/>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6A863A22-2C26-4305-AA6F-13BF8213FE68}"/>
              </a:ext>
            </a:extLst>
          </p:cNvPr>
          <p:cNvSpPr>
            <a:spLocks noGrp="1"/>
          </p:cNvSpPr>
          <p:nvPr>
            <p:ph type="sldNum" sz="quarter" idx="12"/>
          </p:nvPr>
        </p:nvSpPr>
        <p:spPr/>
        <p:txBody>
          <a:bodyPr/>
          <a:lstStyle/>
          <a:p>
            <a:fld id="{1631108B-5D83-4953-8F3A-2D4544B1B95C}" type="slidenum">
              <a:rPr lang="en-IN" smtClean="0"/>
              <a:pPr/>
              <a:t>2</a:t>
            </a:fld>
            <a:endParaRPr lang="en-IN" dirty="0"/>
          </a:p>
        </p:txBody>
      </p:sp>
    </p:spTree>
    <p:extLst>
      <p:ext uri="{BB962C8B-B14F-4D97-AF65-F5344CB8AC3E}">
        <p14:creationId xmlns:p14="http://schemas.microsoft.com/office/powerpoint/2010/main" val="1988175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25037-A718-4D1A-8279-9FC0D481792E}"/>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B1B5DB28-04EF-447F-AAF7-083928FFB2A8}"/>
              </a:ext>
            </a:extLst>
          </p:cNvPr>
          <p:cNvSpPr>
            <a:spLocks noGrp="1"/>
          </p:cNvSpPr>
          <p:nvPr>
            <p:ph idx="1"/>
          </p:nvPr>
        </p:nvSpPr>
        <p:spPr/>
        <p:txBody>
          <a:bodyPr>
            <a:normAutofit fontScale="77500" lnSpcReduction="20000"/>
          </a:bodyPr>
          <a:lstStyle/>
          <a:p>
            <a:r>
              <a:rPr lang="en-US" dirty="0"/>
              <a:t>Wearable devices, particularly smartwatches, have transformed the way physiological data is continuously monitored in real time. These devices capture essential health signals such as heart rate, heart rate variability (HRV), sleep patterns, and physical activity with high frequency and minimal user effort.</a:t>
            </a:r>
          </a:p>
          <a:p>
            <a:endParaRPr lang="en-US" dirty="0"/>
          </a:p>
          <a:p>
            <a:r>
              <a:rPr lang="en-US" dirty="0"/>
              <a:t>With the increasing adoption of wearable technology, there is a growing opportunity to leverage this rich, continuous data to understand an individual’s physiological state beyond traditional clinical assessments. However, raw wearable data is often noisy, highly variable, and personalized, making it challenging to extract meaningful insights directly.</a:t>
            </a:r>
          </a:p>
          <a:p>
            <a:endParaRPr lang="en-US" dirty="0"/>
          </a:p>
          <a:p>
            <a:r>
              <a:rPr lang="en-US" dirty="0"/>
              <a:t>This project focuses on utilizing smartwatch-derived data to model and interpret physiological states using advanced machine learning techniques. By applying preprocessing, baseline estimation, rolling statistics, and unsupervised learning models, the system aims to identify patterns, detect deviations, and infer potential health risks in a personalized manner.</a:t>
            </a:r>
          </a:p>
          <a:p>
            <a:endParaRPr lang="en-US" dirty="0"/>
          </a:p>
        </p:txBody>
      </p:sp>
      <p:sp>
        <p:nvSpPr>
          <p:cNvPr id="4" name="Date Placeholder 3">
            <a:extLst>
              <a:ext uri="{FF2B5EF4-FFF2-40B4-BE49-F238E27FC236}">
                <a16:creationId xmlns:a16="http://schemas.microsoft.com/office/drawing/2014/main" id="{13C965E3-A48B-43DB-A08A-3ED0E3C823D6}"/>
              </a:ext>
            </a:extLst>
          </p:cNvPr>
          <p:cNvSpPr>
            <a:spLocks noGrp="1"/>
          </p:cNvSpPr>
          <p:nvPr>
            <p:ph type="dt" sz="half" idx="10"/>
          </p:nvPr>
        </p:nvSpPr>
        <p:spPr/>
        <p:txBody>
          <a:bodyPr/>
          <a:lstStyle/>
          <a:p>
            <a:r>
              <a:rPr lang="en-IN" b="1" dirty="0"/>
              <a:t>07-06-26</a:t>
            </a:r>
            <a:endParaRPr lang="en-IN" dirty="0"/>
          </a:p>
        </p:txBody>
      </p:sp>
      <p:sp>
        <p:nvSpPr>
          <p:cNvPr id="5" name="Footer Placeholder 4">
            <a:extLst>
              <a:ext uri="{FF2B5EF4-FFF2-40B4-BE49-F238E27FC236}">
                <a16:creationId xmlns:a16="http://schemas.microsoft.com/office/drawing/2014/main" id="{E11B828E-BB7D-4CF8-B414-FE92826E8205}"/>
              </a:ext>
            </a:extLst>
          </p:cNvPr>
          <p:cNvSpPr>
            <a:spLocks noGrp="1"/>
          </p:cNvSpPr>
          <p:nvPr>
            <p:ph type="ftr" sz="quarter" idx="11"/>
          </p:nvPr>
        </p:nvSpPr>
        <p:spPr/>
        <p:txBody>
          <a:bodyPr/>
          <a:lstStyle/>
          <a:p>
            <a:r>
              <a:rPr lang="en-US" dirty="0"/>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435480A7-307D-4B28-BA3D-5F871CC237CE}"/>
              </a:ext>
            </a:extLst>
          </p:cNvPr>
          <p:cNvSpPr>
            <a:spLocks noGrp="1"/>
          </p:cNvSpPr>
          <p:nvPr>
            <p:ph type="sldNum" sz="quarter" idx="12"/>
          </p:nvPr>
        </p:nvSpPr>
        <p:spPr/>
        <p:txBody>
          <a:bodyPr/>
          <a:lstStyle/>
          <a:p>
            <a:fld id="{1631108B-5D83-4953-8F3A-2D4544B1B95C}" type="slidenum">
              <a:rPr lang="en-IN" smtClean="0"/>
              <a:pPr/>
              <a:t>3</a:t>
            </a:fld>
            <a:endParaRPr lang="en-IN" dirty="0"/>
          </a:p>
        </p:txBody>
      </p:sp>
    </p:spTree>
    <p:extLst>
      <p:ext uri="{BB962C8B-B14F-4D97-AF65-F5344CB8AC3E}">
        <p14:creationId xmlns:p14="http://schemas.microsoft.com/office/powerpoint/2010/main" val="2983935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6D39E-C457-49D0-84A2-C311AB828B57}"/>
              </a:ext>
            </a:extLst>
          </p:cNvPr>
          <p:cNvSpPr>
            <a:spLocks noGrp="1"/>
          </p:cNvSpPr>
          <p:nvPr>
            <p:ph type="title"/>
          </p:nvPr>
        </p:nvSpPr>
        <p:spPr/>
        <p:txBody>
          <a:bodyPr>
            <a:normAutofit/>
          </a:bodyPr>
          <a:lstStyle/>
          <a:p>
            <a:r>
              <a:rPr lang="en-IN" sz="2800" dirty="0"/>
              <a:t>Outcome of Literature/Research Gap/Motivation</a:t>
            </a:r>
          </a:p>
        </p:txBody>
      </p:sp>
      <p:graphicFrame>
        <p:nvGraphicFramePr>
          <p:cNvPr id="7" name="Content Placeholder 6">
            <a:extLst>
              <a:ext uri="{FF2B5EF4-FFF2-40B4-BE49-F238E27FC236}">
                <a16:creationId xmlns:a16="http://schemas.microsoft.com/office/drawing/2014/main" id="{4E0DDBE5-ECF2-20C6-6774-468F585FD951}"/>
              </a:ext>
            </a:extLst>
          </p:cNvPr>
          <p:cNvGraphicFramePr>
            <a:graphicFrameLocks noGrp="1"/>
          </p:cNvGraphicFramePr>
          <p:nvPr>
            <p:ph idx="1"/>
            <p:extLst>
              <p:ext uri="{D42A27DB-BD31-4B8C-83A1-F6EECF244321}">
                <p14:modId xmlns:p14="http://schemas.microsoft.com/office/powerpoint/2010/main" val="405524286"/>
              </p:ext>
            </p:extLst>
          </p:nvPr>
        </p:nvGraphicFramePr>
        <p:xfrm>
          <a:off x="265545" y="1638444"/>
          <a:ext cx="11696299" cy="4265863"/>
        </p:xfrm>
        <a:graphic>
          <a:graphicData uri="http://schemas.openxmlformats.org/drawingml/2006/table">
            <a:tbl>
              <a:tblPr firstRow="1" bandRow="1">
                <a:tableStyleId>{5940675A-B579-460E-94D1-54222C63F5DA}</a:tableStyleId>
              </a:tblPr>
              <a:tblGrid>
                <a:gridCol w="933795">
                  <a:extLst>
                    <a:ext uri="{9D8B030D-6E8A-4147-A177-3AD203B41FA5}">
                      <a16:colId xmlns:a16="http://schemas.microsoft.com/office/drawing/2014/main" val="1824359800"/>
                    </a:ext>
                  </a:extLst>
                </a:gridCol>
                <a:gridCol w="1525244">
                  <a:extLst>
                    <a:ext uri="{9D8B030D-6E8A-4147-A177-3AD203B41FA5}">
                      <a16:colId xmlns:a16="http://schemas.microsoft.com/office/drawing/2014/main" val="1382311495"/>
                    </a:ext>
                  </a:extLst>
                </a:gridCol>
                <a:gridCol w="2135342">
                  <a:extLst>
                    <a:ext uri="{9D8B030D-6E8A-4147-A177-3AD203B41FA5}">
                      <a16:colId xmlns:a16="http://schemas.microsoft.com/office/drawing/2014/main" val="4177640765"/>
                    </a:ext>
                  </a:extLst>
                </a:gridCol>
                <a:gridCol w="1734965">
                  <a:extLst>
                    <a:ext uri="{9D8B030D-6E8A-4147-A177-3AD203B41FA5}">
                      <a16:colId xmlns:a16="http://schemas.microsoft.com/office/drawing/2014/main" val="2264378930"/>
                    </a:ext>
                  </a:extLst>
                </a:gridCol>
                <a:gridCol w="1744498">
                  <a:extLst>
                    <a:ext uri="{9D8B030D-6E8A-4147-A177-3AD203B41FA5}">
                      <a16:colId xmlns:a16="http://schemas.microsoft.com/office/drawing/2014/main" val="1312483866"/>
                    </a:ext>
                  </a:extLst>
                </a:gridCol>
                <a:gridCol w="1630105">
                  <a:extLst>
                    <a:ext uri="{9D8B030D-6E8A-4147-A177-3AD203B41FA5}">
                      <a16:colId xmlns:a16="http://schemas.microsoft.com/office/drawing/2014/main" val="400304103"/>
                    </a:ext>
                  </a:extLst>
                </a:gridCol>
                <a:gridCol w="1992350">
                  <a:extLst>
                    <a:ext uri="{9D8B030D-6E8A-4147-A177-3AD203B41FA5}">
                      <a16:colId xmlns:a16="http://schemas.microsoft.com/office/drawing/2014/main" val="3322625856"/>
                    </a:ext>
                  </a:extLst>
                </a:gridCol>
              </a:tblGrid>
              <a:tr h="770746">
                <a:tc>
                  <a:txBody>
                    <a:bodyPr/>
                    <a:lstStyle/>
                    <a:p>
                      <a:r>
                        <a:rPr lang="en-IN" sz="1400" b="1" dirty="0">
                          <a:latin typeface="Times New Roman" panose="02020603050405020304" pitchFamily="18" charset="0"/>
                          <a:cs typeface="Times New Roman" panose="02020603050405020304" pitchFamily="18" charset="0"/>
                        </a:rPr>
                        <a:t>S. NO</a:t>
                      </a:r>
                    </a:p>
                  </a:txBody>
                  <a:tcPr/>
                </a:tc>
                <a:tc>
                  <a:txBody>
                    <a:bodyPr/>
                    <a:lstStyle/>
                    <a:p>
                      <a:r>
                        <a:rPr lang="en-IN" sz="1400" b="1" dirty="0">
                          <a:latin typeface="Times New Roman" panose="02020603050405020304" pitchFamily="18" charset="0"/>
                          <a:cs typeface="Times New Roman" panose="02020603050405020304" pitchFamily="18" charset="0"/>
                        </a:rPr>
                        <a:t>PAPER TITLE</a:t>
                      </a:r>
                    </a:p>
                  </a:txBody>
                  <a:tcPr/>
                </a:tc>
                <a:tc>
                  <a:txBody>
                    <a:bodyPr/>
                    <a:lstStyle/>
                    <a:p>
                      <a:r>
                        <a:rPr lang="en-IN" sz="1400" b="1" dirty="0">
                          <a:latin typeface="Times New Roman" panose="02020603050405020304" pitchFamily="18" charset="0"/>
                          <a:cs typeface="Times New Roman" panose="02020603050405020304" pitchFamily="18" charset="0"/>
                        </a:rPr>
                        <a:t>ARCHITECTURE / MODEL USED</a:t>
                      </a:r>
                    </a:p>
                  </a:txBody>
                  <a:tcPr/>
                </a:tc>
                <a:tc>
                  <a:txBody>
                    <a:bodyPr/>
                    <a:lstStyle/>
                    <a:p>
                      <a:r>
                        <a:rPr lang="en-IN" sz="1400" b="1" dirty="0">
                          <a:latin typeface="Times New Roman" panose="02020603050405020304" pitchFamily="18" charset="0"/>
                          <a:cs typeface="Times New Roman" panose="02020603050405020304" pitchFamily="18" charset="0"/>
                        </a:rPr>
                        <a:t>DATASETS USED</a:t>
                      </a:r>
                    </a:p>
                  </a:txBody>
                  <a:tcPr/>
                </a:tc>
                <a:tc>
                  <a:txBody>
                    <a:bodyPr/>
                    <a:lstStyle/>
                    <a:p>
                      <a:r>
                        <a:rPr lang="en-IN" sz="1400" b="1" dirty="0">
                          <a:latin typeface="Times New Roman" panose="02020603050405020304" pitchFamily="18" charset="0"/>
                          <a:cs typeface="Times New Roman" panose="02020603050405020304" pitchFamily="18" charset="0"/>
                        </a:rPr>
                        <a:t>PERFORMANCE METRICS &amp; LOSS</a:t>
                      </a:r>
                    </a:p>
                  </a:txBody>
                  <a:tcPr/>
                </a:tc>
                <a:tc>
                  <a:txBody>
                    <a:bodyPr/>
                    <a:lstStyle/>
                    <a:p>
                      <a:r>
                        <a:rPr lang="en-IN" sz="1400" b="1" dirty="0">
                          <a:latin typeface="Times New Roman" panose="02020603050405020304" pitchFamily="18" charset="0"/>
                          <a:cs typeface="Times New Roman" panose="02020603050405020304" pitchFamily="18" charset="0"/>
                        </a:rPr>
                        <a:t>ADVANTAGES / CONTRIBUTIONS</a:t>
                      </a:r>
                    </a:p>
                  </a:txBody>
                  <a:tcPr/>
                </a:tc>
                <a:tc>
                  <a:txBody>
                    <a:bodyPr/>
                    <a:lstStyle/>
                    <a:p>
                      <a:r>
                        <a:rPr lang="en-IN" sz="1400" b="1" dirty="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3276898233"/>
                  </a:ext>
                </a:extLst>
              </a:tr>
              <a:tr h="1711198">
                <a:tc>
                  <a:txBody>
                    <a:bodyPr/>
                    <a:lstStyle/>
                    <a:p>
                      <a:r>
                        <a:rPr lang="en-IN" sz="1300" dirty="0">
                          <a:latin typeface="Times New Roman" panose="02020603050405020304" pitchFamily="18" charset="0"/>
                          <a:cs typeface="Times New Roman" panose="02020603050405020304" pitchFamily="18" charset="0"/>
                        </a:rPr>
                        <a:t>1</a:t>
                      </a:r>
                    </a:p>
                  </a:txBody>
                  <a:tcPr/>
                </a:tc>
                <a:tc>
                  <a:txBody>
                    <a:bodyPr/>
                    <a:lstStyle/>
                    <a:p>
                      <a:r>
                        <a:rPr lang="en-US" sz="1200" dirty="0"/>
                        <a:t>Gaussian Mixture Generative Model for End-to-End Unsupervised Physiological State Identification</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t>GMGM combining DBN encoder, GMM density estimation, and generative decoder in unified end-to-end optimization framework.</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t>Multi-sensor wearable dataset including accelerometry features, HR, HRV, and activity classification streams from IoT devices.</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t>Achieves 5.5% higher ROC-AUC than DAGMM; optimized using KL-divergence and likelihood-based joint objective function.</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t>End-to-end learning, optimized latent space, fog-layer anomaly refinement, adaptive HMM with circadian priors, and reduced computation using improved Viterbi.</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t>High computational cost; unsuitable for real-time edge deployment; decoupled approaches still used risking feature loss.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11153992"/>
                  </a:ext>
                </a:extLst>
              </a:tr>
              <a:tr h="1783919">
                <a:tc>
                  <a:txBody>
                    <a:bodyPr/>
                    <a:lstStyle/>
                    <a:p>
                      <a:r>
                        <a:rPr lang="en-IN" sz="1300" dirty="0">
                          <a:latin typeface="Times New Roman" panose="02020603050405020304" pitchFamily="18" charset="0"/>
                          <a:cs typeface="Times New Roman" panose="02020603050405020304" pitchFamily="18" charset="0"/>
                        </a:rPr>
                        <a:t>2</a:t>
                      </a:r>
                    </a:p>
                  </a:txBody>
                  <a:tcPr/>
                </a:tc>
                <a:tc>
                  <a:txBody>
                    <a:bodyPr/>
                    <a:lstStyle/>
                    <a:p>
                      <a:r>
                        <a:rPr lang="en-US" sz="1200" dirty="0"/>
                        <a:t>Unsupervised ML for Recovery Patterns in Elite Canoe-Kayak Athletes</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t>K-Means clustering with four physiological states derived from sleep architecture and HRV features without supervised labels.</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IN" sz="1200" dirty="0"/>
                        <a:t>Longitudinal elite athlete dataset including sleep duration, fragmentation, RMSSD, respiratory rate, and HRV metrics.</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t>Explains 79% variance; evaluated using silhouette scores and physiological interpretability of clusters.</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t>Identifies recovery states, highlights respiratory rate importance, supports personalized monitoring, reveals vagal dominance paradox.</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t>Limited generalizability beyond athletes; lacks temporal modeling; single-sport dataset restricts broader applicability. </a:t>
                      </a:r>
                    </a:p>
                  </a:txBody>
                  <a:tcPr/>
                </a:tc>
                <a:extLst>
                  <a:ext uri="{0D108BD9-81ED-4DB2-BD59-A6C34878D82A}">
                    <a16:rowId xmlns:a16="http://schemas.microsoft.com/office/drawing/2014/main" val="932053275"/>
                  </a:ext>
                </a:extLst>
              </a:tr>
            </a:tbl>
          </a:graphicData>
        </a:graphic>
      </p:graphicFrame>
      <p:sp>
        <p:nvSpPr>
          <p:cNvPr id="4" name="Date Placeholder 3">
            <a:extLst>
              <a:ext uri="{FF2B5EF4-FFF2-40B4-BE49-F238E27FC236}">
                <a16:creationId xmlns:a16="http://schemas.microsoft.com/office/drawing/2014/main" id="{CD87D35A-F873-4949-A8E3-6B0F6D13AA35}"/>
              </a:ext>
            </a:extLst>
          </p:cNvPr>
          <p:cNvSpPr>
            <a:spLocks noGrp="1"/>
          </p:cNvSpPr>
          <p:nvPr>
            <p:ph type="dt" sz="half" idx="10"/>
          </p:nvPr>
        </p:nvSpPr>
        <p:spPr/>
        <p:txBody>
          <a:bodyPr/>
          <a:lstStyle/>
          <a:p>
            <a:r>
              <a:rPr lang="en-IN" b="1" dirty="0"/>
              <a:t>07-06-26</a:t>
            </a:r>
            <a:endParaRPr lang="en-IN" dirty="0"/>
          </a:p>
        </p:txBody>
      </p:sp>
      <p:sp>
        <p:nvSpPr>
          <p:cNvPr id="5" name="Footer Placeholder 4">
            <a:extLst>
              <a:ext uri="{FF2B5EF4-FFF2-40B4-BE49-F238E27FC236}">
                <a16:creationId xmlns:a16="http://schemas.microsoft.com/office/drawing/2014/main" id="{AA224F31-3993-4963-845C-53D47A90340E}"/>
              </a:ext>
            </a:extLst>
          </p:cNvPr>
          <p:cNvSpPr>
            <a:spLocks noGrp="1"/>
          </p:cNvSpPr>
          <p:nvPr>
            <p:ph type="ftr" sz="quarter" idx="11"/>
          </p:nvPr>
        </p:nvSpPr>
        <p:spPr/>
        <p:txBody>
          <a:bodyPr/>
          <a:lstStyle/>
          <a:p>
            <a:r>
              <a:rPr lang="en-US" dirty="0"/>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C8C43C6B-F4C2-498E-B31D-B867ABD79D36}"/>
              </a:ext>
            </a:extLst>
          </p:cNvPr>
          <p:cNvSpPr>
            <a:spLocks noGrp="1"/>
          </p:cNvSpPr>
          <p:nvPr>
            <p:ph type="sldNum" sz="quarter" idx="12"/>
          </p:nvPr>
        </p:nvSpPr>
        <p:spPr/>
        <p:txBody>
          <a:bodyPr/>
          <a:lstStyle/>
          <a:p>
            <a:fld id="{1631108B-5D83-4953-8F3A-2D4544B1B95C}" type="slidenum">
              <a:rPr lang="en-IN" smtClean="0"/>
              <a:pPr/>
              <a:t>4</a:t>
            </a:fld>
            <a:endParaRPr lang="en-IN" dirty="0"/>
          </a:p>
        </p:txBody>
      </p:sp>
    </p:spTree>
    <p:extLst>
      <p:ext uri="{BB962C8B-B14F-4D97-AF65-F5344CB8AC3E}">
        <p14:creationId xmlns:p14="http://schemas.microsoft.com/office/powerpoint/2010/main" val="3899021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3FCEA-8245-4407-273E-4940D7C7AE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89359D-0009-9961-E210-B8F351D1437F}"/>
              </a:ext>
            </a:extLst>
          </p:cNvPr>
          <p:cNvSpPr>
            <a:spLocks noGrp="1"/>
          </p:cNvSpPr>
          <p:nvPr>
            <p:ph type="title"/>
          </p:nvPr>
        </p:nvSpPr>
        <p:spPr/>
        <p:txBody>
          <a:bodyPr>
            <a:normAutofit/>
          </a:bodyPr>
          <a:lstStyle/>
          <a:p>
            <a:r>
              <a:rPr lang="en-IN" sz="2800" dirty="0"/>
              <a:t>Outcome of Literature/Research Gap/Motivation</a:t>
            </a:r>
          </a:p>
        </p:txBody>
      </p:sp>
      <p:graphicFrame>
        <p:nvGraphicFramePr>
          <p:cNvPr id="7" name="Content Placeholder 6">
            <a:extLst>
              <a:ext uri="{FF2B5EF4-FFF2-40B4-BE49-F238E27FC236}">
                <a16:creationId xmlns:a16="http://schemas.microsoft.com/office/drawing/2014/main" id="{B2922B64-EF01-635F-2CBB-43DF38DB68A2}"/>
              </a:ext>
            </a:extLst>
          </p:cNvPr>
          <p:cNvGraphicFramePr>
            <a:graphicFrameLocks noGrp="1"/>
          </p:cNvGraphicFramePr>
          <p:nvPr>
            <p:ph idx="1"/>
            <p:extLst>
              <p:ext uri="{D42A27DB-BD31-4B8C-83A1-F6EECF244321}">
                <p14:modId xmlns:p14="http://schemas.microsoft.com/office/powerpoint/2010/main" val="165204388"/>
              </p:ext>
            </p:extLst>
          </p:nvPr>
        </p:nvGraphicFramePr>
        <p:xfrm>
          <a:off x="111967" y="1325560"/>
          <a:ext cx="11625944" cy="4821794"/>
        </p:xfrm>
        <a:graphic>
          <a:graphicData uri="http://schemas.openxmlformats.org/drawingml/2006/table">
            <a:tbl>
              <a:tblPr firstRow="1" bandRow="1">
                <a:tableStyleId>{5940675A-B579-460E-94D1-54222C63F5DA}</a:tableStyleId>
              </a:tblPr>
              <a:tblGrid>
                <a:gridCol w="1142055">
                  <a:extLst>
                    <a:ext uri="{9D8B030D-6E8A-4147-A177-3AD203B41FA5}">
                      <a16:colId xmlns:a16="http://schemas.microsoft.com/office/drawing/2014/main" val="1824359800"/>
                    </a:ext>
                  </a:extLst>
                </a:gridCol>
                <a:gridCol w="1872122">
                  <a:extLst>
                    <a:ext uri="{9D8B030D-6E8A-4147-A177-3AD203B41FA5}">
                      <a16:colId xmlns:a16="http://schemas.microsoft.com/office/drawing/2014/main" val="1382311495"/>
                    </a:ext>
                  </a:extLst>
                </a:gridCol>
                <a:gridCol w="1766516">
                  <a:extLst>
                    <a:ext uri="{9D8B030D-6E8A-4147-A177-3AD203B41FA5}">
                      <a16:colId xmlns:a16="http://schemas.microsoft.com/office/drawing/2014/main" val="4177640765"/>
                    </a:ext>
                  </a:extLst>
                </a:gridCol>
                <a:gridCol w="1862704">
                  <a:extLst>
                    <a:ext uri="{9D8B030D-6E8A-4147-A177-3AD203B41FA5}">
                      <a16:colId xmlns:a16="http://schemas.microsoft.com/office/drawing/2014/main" val="2264378930"/>
                    </a:ext>
                  </a:extLst>
                </a:gridCol>
                <a:gridCol w="1660849">
                  <a:extLst>
                    <a:ext uri="{9D8B030D-6E8A-4147-A177-3AD203B41FA5}">
                      <a16:colId xmlns:a16="http://schemas.microsoft.com/office/drawing/2014/main" val="1312483866"/>
                    </a:ext>
                  </a:extLst>
                </a:gridCol>
                <a:gridCol w="1660849">
                  <a:extLst>
                    <a:ext uri="{9D8B030D-6E8A-4147-A177-3AD203B41FA5}">
                      <a16:colId xmlns:a16="http://schemas.microsoft.com/office/drawing/2014/main" val="400304103"/>
                    </a:ext>
                  </a:extLst>
                </a:gridCol>
                <a:gridCol w="1660849">
                  <a:extLst>
                    <a:ext uri="{9D8B030D-6E8A-4147-A177-3AD203B41FA5}">
                      <a16:colId xmlns:a16="http://schemas.microsoft.com/office/drawing/2014/main" val="3322625856"/>
                    </a:ext>
                  </a:extLst>
                </a:gridCol>
              </a:tblGrid>
              <a:tr h="778097">
                <a:tc>
                  <a:txBody>
                    <a:bodyPr/>
                    <a:lstStyle/>
                    <a:p>
                      <a:r>
                        <a:rPr lang="en-IN" sz="1400" b="1" dirty="0">
                          <a:latin typeface="Times New Roman" panose="02020603050405020304" pitchFamily="18" charset="0"/>
                          <a:cs typeface="Times New Roman" panose="02020603050405020304" pitchFamily="18" charset="0"/>
                        </a:rPr>
                        <a:t>S. NO</a:t>
                      </a:r>
                    </a:p>
                  </a:txBody>
                  <a:tcPr/>
                </a:tc>
                <a:tc>
                  <a:txBody>
                    <a:bodyPr/>
                    <a:lstStyle/>
                    <a:p>
                      <a:r>
                        <a:rPr lang="en-IN" sz="1400" b="1" dirty="0">
                          <a:latin typeface="Times New Roman" panose="02020603050405020304" pitchFamily="18" charset="0"/>
                          <a:cs typeface="Times New Roman" panose="02020603050405020304" pitchFamily="18" charset="0"/>
                        </a:rPr>
                        <a:t>PAPER TITLE</a:t>
                      </a:r>
                    </a:p>
                  </a:txBody>
                  <a:tcPr/>
                </a:tc>
                <a:tc>
                  <a:txBody>
                    <a:bodyPr/>
                    <a:lstStyle/>
                    <a:p>
                      <a:r>
                        <a:rPr lang="en-IN" sz="1400" b="1" dirty="0">
                          <a:latin typeface="Times New Roman" panose="02020603050405020304" pitchFamily="18" charset="0"/>
                          <a:cs typeface="Times New Roman" panose="02020603050405020304" pitchFamily="18" charset="0"/>
                        </a:rPr>
                        <a:t>ARCHITECTURE / MODEL USED</a:t>
                      </a:r>
                    </a:p>
                  </a:txBody>
                  <a:tcPr/>
                </a:tc>
                <a:tc>
                  <a:txBody>
                    <a:bodyPr/>
                    <a:lstStyle/>
                    <a:p>
                      <a:r>
                        <a:rPr lang="en-IN" sz="1400" b="1" dirty="0">
                          <a:latin typeface="Times New Roman" panose="02020603050405020304" pitchFamily="18" charset="0"/>
                          <a:cs typeface="Times New Roman" panose="02020603050405020304" pitchFamily="18" charset="0"/>
                        </a:rPr>
                        <a:t>DATASETS USED</a:t>
                      </a:r>
                    </a:p>
                  </a:txBody>
                  <a:tcPr/>
                </a:tc>
                <a:tc>
                  <a:txBody>
                    <a:bodyPr/>
                    <a:lstStyle/>
                    <a:p>
                      <a:r>
                        <a:rPr lang="en-IN" sz="1400" b="1" dirty="0">
                          <a:latin typeface="Times New Roman" panose="02020603050405020304" pitchFamily="18" charset="0"/>
                          <a:cs typeface="Times New Roman" panose="02020603050405020304" pitchFamily="18" charset="0"/>
                        </a:rPr>
                        <a:t>PERFORMANCE METRICS &amp; LOSS</a:t>
                      </a:r>
                    </a:p>
                  </a:txBody>
                  <a:tcPr/>
                </a:tc>
                <a:tc>
                  <a:txBody>
                    <a:bodyPr/>
                    <a:lstStyle/>
                    <a:p>
                      <a:r>
                        <a:rPr lang="en-IN" sz="1400" b="1" dirty="0">
                          <a:latin typeface="Times New Roman" panose="02020603050405020304" pitchFamily="18" charset="0"/>
                          <a:cs typeface="Times New Roman" panose="02020603050405020304" pitchFamily="18" charset="0"/>
                        </a:rPr>
                        <a:t>ADVANTAGES / CONTRIBUTIONS</a:t>
                      </a:r>
                    </a:p>
                  </a:txBody>
                  <a:tcPr/>
                </a:tc>
                <a:tc>
                  <a:txBody>
                    <a:bodyPr/>
                    <a:lstStyle/>
                    <a:p>
                      <a:r>
                        <a:rPr lang="en-IN" sz="1400" b="1" dirty="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3276898233"/>
                  </a:ext>
                </a:extLst>
              </a:tr>
              <a:tr h="2130875">
                <a:tc>
                  <a:txBody>
                    <a:bodyPr/>
                    <a:lstStyle/>
                    <a:p>
                      <a:r>
                        <a:rPr lang="en-IN" sz="1300" dirty="0">
                          <a:latin typeface="Times New Roman" panose="02020603050405020304" pitchFamily="18" charset="0"/>
                          <a:cs typeface="Times New Roman" panose="02020603050405020304" pitchFamily="18" charset="0"/>
                        </a:rPr>
                        <a:t>3</a:t>
                      </a:r>
                    </a:p>
                  </a:txBody>
                  <a:tcPr/>
                </a:tc>
                <a:tc>
                  <a:txBody>
                    <a:bodyPr/>
                    <a:lstStyle/>
                    <a:p>
                      <a:r>
                        <a:rPr lang="en-US" sz="1400" dirty="0"/>
                        <a:t>Hierarchical Heated Markov Modeling for Wearable Activity Data Synthesis</a:t>
                      </a:r>
                      <a:endParaRPr lang="en-IN" sz="1300" dirty="0">
                        <a:latin typeface="Times New Roman" panose="02020603050405020304" pitchFamily="18" charset="0"/>
                        <a:cs typeface="Times New Roman" panose="02020603050405020304" pitchFamily="18" charset="0"/>
                      </a:endParaRPr>
                    </a:p>
                  </a:txBody>
                  <a:tcPr/>
                </a:tc>
                <a:tc>
                  <a:txBody>
                    <a:bodyPr/>
                    <a:lstStyle/>
                    <a:p>
                      <a:r>
                        <a:rPr lang="en-US" sz="1400" dirty="0"/>
                        <a:t>HHMM with three tiers: Markov activity generation, HR sampling via MCMC, and secondary feature synthesis.</a:t>
                      </a:r>
                      <a:endParaRPr lang="en-IN" sz="1300" dirty="0">
                        <a:latin typeface="Times New Roman" panose="02020603050405020304" pitchFamily="18" charset="0"/>
                        <a:cs typeface="Times New Roman" panose="02020603050405020304" pitchFamily="18" charset="0"/>
                      </a:endParaRPr>
                    </a:p>
                  </a:txBody>
                  <a:tcPr/>
                </a:tc>
                <a:tc>
                  <a:txBody>
                    <a:bodyPr/>
                    <a:lstStyle/>
                    <a:p>
                      <a:r>
                        <a:rPr lang="en-US" sz="1400" dirty="0"/>
                        <a:t>Consumer wearable data with activity-conditioned Poisson sampling for irregular data generation and synthetic validation.</a:t>
                      </a:r>
                      <a:endParaRPr lang="en-IN" sz="1300" dirty="0">
                        <a:latin typeface="Times New Roman" panose="02020603050405020304" pitchFamily="18" charset="0"/>
                        <a:cs typeface="Times New Roman" panose="02020603050405020304" pitchFamily="18" charset="0"/>
                      </a:endParaRPr>
                    </a:p>
                  </a:txBody>
                  <a:tcPr/>
                </a:tc>
                <a:tc>
                  <a:txBody>
                    <a:bodyPr/>
                    <a:lstStyle/>
                    <a:p>
                      <a:r>
                        <a:rPr lang="en-US" sz="1400" dirty="0"/>
                        <a:t>Maintains ergodicity and realistic long-term distributions; heating prevents excessive self-transition probabilities. </a:t>
                      </a:r>
                      <a:endParaRPr lang="en-IN" sz="1300" dirty="0">
                        <a:latin typeface="Times New Roman" panose="02020603050405020304" pitchFamily="18" charset="0"/>
                        <a:cs typeface="Times New Roman" panose="02020603050405020304" pitchFamily="18" charset="0"/>
                      </a:endParaRPr>
                    </a:p>
                  </a:txBody>
                  <a:tcPr/>
                </a:tc>
                <a:tc>
                  <a:txBody>
                    <a:bodyPr/>
                    <a:lstStyle/>
                    <a:p>
                      <a:r>
                        <a:rPr lang="en-IN" sz="1400" dirty="0"/>
                        <a:t>Prevents sedentary bias, models irregular sampling, generates multi-level synthetic data, useful for benchmarking ML systems.</a:t>
                      </a:r>
                      <a:endParaRPr lang="en-IN" sz="1300" dirty="0">
                        <a:latin typeface="Times New Roman" panose="02020603050405020304" pitchFamily="18" charset="0"/>
                        <a:cs typeface="Times New Roman" panose="02020603050405020304" pitchFamily="18" charset="0"/>
                      </a:endParaRPr>
                    </a:p>
                  </a:txBody>
                  <a:tcPr/>
                </a:tc>
                <a:tc>
                  <a:txBody>
                    <a:bodyPr/>
                    <a:lstStyle/>
                    <a:p>
                      <a:r>
                        <a:rPr lang="en-US" sz="1400" dirty="0"/>
                        <a:t>Focuses on synthesis, not classification; high computational complexity; lacks personalization and individual baseline modeling.</a:t>
                      </a:r>
                      <a:endParaRPr lang="en-IN" sz="13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11153992"/>
                  </a:ext>
                </a:extLst>
              </a:tr>
              <a:tr h="1912822">
                <a:tc>
                  <a:txBody>
                    <a:bodyPr/>
                    <a:lstStyle/>
                    <a:p>
                      <a:r>
                        <a:rPr lang="en-IN" sz="1300" dirty="0">
                          <a:latin typeface="Times New Roman" panose="02020603050405020304" pitchFamily="18" charset="0"/>
                          <a:cs typeface="Times New Roman" panose="02020603050405020304" pitchFamily="18" charset="0"/>
                        </a:rPr>
                        <a:t>4</a:t>
                      </a:r>
                    </a:p>
                  </a:txBody>
                  <a:tcPr/>
                </a:tc>
                <a:tc>
                  <a:txBody>
                    <a:bodyPr/>
                    <a:lstStyle/>
                    <a:p>
                      <a:r>
                        <a:rPr lang="en-US" sz="1400" dirty="0"/>
                        <a:t>Predictive Modeling of Biomedical Temporal Data: Review</a:t>
                      </a:r>
                      <a:endParaRPr lang="en-IN" sz="1300" dirty="0">
                        <a:latin typeface="Times New Roman" panose="02020603050405020304" pitchFamily="18" charset="0"/>
                        <a:cs typeface="Times New Roman" panose="02020603050405020304" pitchFamily="18" charset="0"/>
                      </a:endParaRPr>
                    </a:p>
                  </a:txBody>
                  <a:tcPr/>
                </a:tc>
                <a:tc>
                  <a:txBody>
                    <a:bodyPr/>
                    <a:lstStyle/>
                    <a:p>
                      <a:r>
                        <a:rPr lang="en-US" sz="1400" dirty="0"/>
                        <a:t>Review of HMM, LSTM, Transformers, CRF, and state-space models for healthcare time-series analysis.</a:t>
                      </a:r>
                      <a:endParaRPr lang="en-US" sz="1300" dirty="0">
                        <a:latin typeface="Times New Roman" panose="02020603050405020304" pitchFamily="18" charset="0"/>
                        <a:cs typeface="Times New Roman" panose="02020603050405020304" pitchFamily="18" charset="0"/>
                      </a:endParaRPr>
                    </a:p>
                  </a:txBody>
                  <a:tcPr/>
                </a:tc>
                <a:tc>
                  <a:txBody>
                    <a:bodyPr/>
                    <a:lstStyle/>
                    <a:p>
                      <a:r>
                        <a:rPr lang="en-US" sz="1400" dirty="0"/>
                        <a:t>Survey of 50+ studies using EHR, wearable, and clinical temporal datasets.</a:t>
                      </a:r>
                      <a:endParaRPr lang="en-US" sz="1300" dirty="0">
                        <a:latin typeface="Times New Roman" panose="02020603050405020304" pitchFamily="18" charset="0"/>
                        <a:cs typeface="Times New Roman" panose="02020603050405020304" pitchFamily="18" charset="0"/>
                      </a:endParaRPr>
                    </a:p>
                  </a:txBody>
                  <a:tcPr/>
                </a:tc>
                <a:tc>
                  <a:txBody>
                    <a:bodyPr/>
                    <a:lstStyle/>
                    <a:p>
                      <a:r>
                        <a:rPr lang="en-US" sz="1400" dirty="0"/>
                        <a:t>Compares AUROC, F1, and calibration; highlights performance gaps between dense and sparse data models.</a:t>
                      </a:r>
                      <a:endParaRPr lang="en-US" sz="1300" dirty="0">
                        <a:latin typeface="Times New Roman" panose="02020603050405020304" pitchFamily="18" charset="0"/>
                        <a:cs typeface="Times New Roman" panose="02020603050405020304" pitchFamily="18" charset="0"/>
                      </a:endParaRPr>
                    </a:p>
                  </a:txBody>
                  <a:tcPr/>
                </a:tc>
                <a:tc>
                  <a:txBody>
                    <a:bodyPr/>
                    <a:lstStyle/>
                    <a:p>
                      <a:r>
                        <a:rPr lang="en-US" sz="1400" dirty="0"/>
                        <a:t>Provides taxonomy, identifies irregular time-series challenge, recommends HMM for states and Transformers for dependencies.</a:t>
                      </a:r>
                      <a:endParaRPr lang="en-US" sz="1300" dirty="0">
                        <a:latin typeface="Times New Roman" panose="02020603050405020304" pitchFamily="18" charset="0"/>
                        <a:cs typeface="Times New Roman" panose="02020603050405020304" pitchFamily="18" charset="0"/>
                      </a:endParaRPr>
                    </a:p>
                  </a:txBody>
                  <a:tcPr/>
                </a:tc>
                <a:tc>
                  <a:txBody>
                    <a:bodyPr/>
                    <a:lstStyle/>
                    <a:p>
                      <a:r>
                        <a:rPr lang="en-US" sz="1400" dirty="0"/>
                        <a:t>No new model proposed; mostly EHR-focused; irregular sampling remains unresolved in many methods.</a:t>
                      </a:r>
                      <a:endParaRPr lang="en-US" sz="13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32053275"/>
                  </a:ext>
                </a:extLst>
              </a:tr>
            </a:tbl>
          </a:graphicData>
        </a:graphic>
      </p:graphicFrame>
      <p:sp>
        <p:nvSpPr>
          <p:cNvPr id="4" name="Date Placeholder 3">
            <a:extLst>
              <a:ext uri="{FF2B5EF4-FFF2-40B4-BE49-F238E27FC236}">
                <a16:creationId xmlns:a16="http://schemas.microsoft.com/office/drawing/2014/main" id="{75D64F26-7A13-F222-EF50-13875E7B5D0C}"/>
              </a:ext>
            </a:extLst>
          </p:cNvPr>
          <p:cNvSpPr>
            <a:spLocks noGrp="1"/>
          </p:cNvSpPr>
          <p:nvPr>
            <p:ph type="dt" sz="half" idx="10"/>
          </p:nvPr>
        </p:nvSpPr>
        <p:spPr/>
        <p:txBody>
          <a:bodyPr/>
          <a:lstStyle/>
          <a:p>
            <a:r>
              <a:rPr lang="en-IN" b="1" dirty="0"/>
              <a:t>07-06-26</a:t>
            </a:r>
            <a:endParaRPr lang="en-IN" dirty="0"/>
          </a:p>
        </p:txBody>
      </p:sp>
      <p:sp>
        <p:nvSpPr>
          <p:cNvPr id="5" name="Footer Placeholder 4">
            <a:extLst>
              <a:ext uri="{FF2B5EF4-FFF2-40B4-BE49-F238E27FC236}">
                <a16:creationId xmlns:a16="http://schemas.microsoft.com/office/drawing/2014/main" id="{80F9EBDC-6406-BAEE-5CEF-F5FA434F2502}"/>
              </a:ext>
            </a:extLst>
          </p:cNvPr>
          <p:cNvSpPr>
            <a:spLocks noGrp="1"/>
          </p:cNvSpPr>
          <p:nvPr>
            <p:ph type="ftr" sz="quarter" idx="11"/>
          </p:nvPr>
        </p:nvSpPr>
        <p:spPr/>
        <p:txBody>
          <a:bodyPr/>
          <a:lstStyle/>
          <a:p>
            <a:r>
              <a:rPr lang="en-US" dirty="0"/>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5DF2C769-9EBE-7057-5A20-5C8946B639DD}"/>
              </a:ext>
            </a:extLst>
          </p:cNvPr>
          <p:cNvSpPr>
            <a:spLocks noGrp="1"/>
          </p:cNvSpPr>
          <p:nvPr>
            <p:ph type="sldNum" sz="quarter" idx="12"/>
          </p:nvPr>
        </p:nvSpPr>
        <p:spPr/>
        <p:txBody>
          <a:bodyPr/>
          <a:lstStyle/>
          <a:p>
            <a:fld id="{1631108B-5D83-4953-8F3A-2D4544B1B95C}" type="slidenum">
              <a:rPr lang="en-IN" smtClean="0"/>
              <a:pPr/>
              <a:t>5</a:t>
            </a:fld>
            <a:endParaRPr lang="en-IN" dirty="0"/>
          </a:p>
        </p:txBody>
      </p:sp>
    </p:spTree>
    <p:extLst>
      <p:ext uri="{BB962C8B-B14F-4D97-AF65-F5344CB8AC3E}">
        <p14:creationId xmlns:p14="http://schemas.microsoft.com/office/powerpoint/2010/main" val="667057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6DB7D-B185-111B-31D7-F7FE5DD8E0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F4754D-4C16-DD1E-C970-C1BAED2B16DE}"/>
              </a:ext>
            </a:extLst>
          </p:cNvPr>
          <p:cNvSpPr>
            <a:spLocks noGrp="1"/>
          </p:cNvSpPr>
          <p:nvPr>
            <p:ph type="title"/>
          </p:nvPr>
        </p:nvSpPr>
        <p:spPr/>
        <p:txBody>
          <a:bodyPr/>
          <a:lstStyle/>
          <a:p>
            <a:r>
              <a:rPr lang="en-IN" dirty="0"/>
              <a:t>Literature - brief</a:t>
            </a:r>
          </a:p>
        </p:txBody>
      </p:sp>
      <p:sp>
        <p:nvSpPr>
          <p:cNvPr id="3" name="Content Placeholder 2">
            <a:extLst>
              <a:ext uri="{FF2B5EF4-FFF2-40B4-BE49-F238E27FC236}">
                <a16:creationId xmlns:a16="http://schemas.microsoft.com/office/drawing/2014/main" id="{AA678B6A-F1C3-0347-891C-A89FDB55C041}"/>
              </a:ext>
            </a:extLst>
          </p:cNvPr>
          <p:cNvSpPr>
            <a:spLocks noGrp="1"/>
          </p:cNvSpPr>
          <p:nvPr>
            <p:ph idx="1"/>
          </p:nvPr>
        </p:nvSpPr>
        <p:spPr/>
        <p:txBody>
          <a:bodyPr>
            <a:normAutofit fontScale="70000" lnSpcReduction="20000"/>
          </a:bodyPr>
          <a:lstStyle/>
          <a:p>
            <a:pPr>
              <a:lnSpc>
                <a:spcPct val="120000"/>
              </a:lnSpc>
            </a:pPr>
            <a:r>
              <a:rPr lang="en-US" b="1" dirty="0"/>
              <a:t>1. Personalized Baseline Estimation</a:t>
            </a:r>
            <a:br>
              <a:rPr lang="en-US" dirty="0"/>
            </a:br>
            <a:r>
              <a:rPr lang="en-US" dirty="0"/>
              <a:t>Static thresholds are ineffective due to individual variability. Dynamic baselines using rolling statistics and VAE model personal “normal” behavior, enabling accurate anomaly detection based on individual physiology rather than population-level averages.</a:t>
            </a:r>
          </a:p>
          <a:p>
            <a:pPr>
              <a:lnSpc>
                <a:spcPct val="120000"/>
              </a:lnSpc>
            </a:pPr>
            <a:r>
              <a:rPr lang="en-US" b="1" dirty="0"/>
              <a:t>2. Limitation of Supervised Labeling</a:t>
            </a:r>
            <a:br>
              <a:rPr lang="en-US" dirty="0"/>
            </a:br>
            <a:r>
              <a:rPr lang="en-US" dirty="0"/>
              <a:t>Physiological states are latent and difficult to label accurately. Rule-based labeling leads to circular learning. Unsupervised methods overcome this by discovering patterns directly from data without predefined labels.</a:t>
            </a:r>
          </a:p>
          <a:p>
            <a:pPr>
              <a:lnSpc>
                <a:spcPct val="120000"/>
              </a:lnSpc>
            </a:pPr>
            <a:r>
              <a:rPr lang="en-US" b="1" dirty="0"/>
              <a:t>3. Clustering for State Discovery</a:t>
            </a:r>
            <a:br>
              <a:rPr lang="en-US" dirty="0"/>
            </a:br>
            <a:r>
              <a:rPr lang="en-US" dirty="0"/>
              <a:t>K-Means and GMM are widely used for identifying hidden physiological states. K-Means provides clear clusters, while GMM captures overlapping states, making it more suitable for real-world biological variability.</a:t>
            </a:r>
          </a:p>
        </p:txBody>
      </p:sp>
      <p:sp>
        <p:nvSpPr>
          <p:cNvPr id="4" name="Date Placeholder 3">
            <a:extLst>
              <a:ext uri="{FF2B5EF4-FFF2-40B4-BE49-F238E27FC236}">
                <a16:creationId xmlns:a16="http://schemas.microsoft.com/office/drawing/2014/main" id="{5A13DD45-2980-43E7-F1FB-4CFCFCED675E}"/>
              </a:ext>
            </a:extLst>
          </p:cNvPr>
          <p:cNvSpPr>
            <a:spLocks noGrp="1"/>
          </p:cNvSpPr>
          <p:nvPr>
            <p:ph type="dt" sz="half" idx="10"/>
          </p:nvPr>
        </p:nvSpPr>
        <p:spPr/>
        <p:txBody>
          <a:bodyPr/>
          <a:lstStyle/>
          <a:p>
            <a:r>
              <a:rPr lang="en-IN" b="1" dirty="0"/>
              <a:t>07-06-26</a:t>
            </a:r>
            <a:endParaRPr lang="en-IN" dirty="0"/>
          </a:p>
        </p:txBody>
      </p:sp>
      <p:sp>
        <p:nvSpPr>
          <p:cNvPr id="5" name="Footer Placeholder 4">
            <a:extLst>
              <a:ext uri="{FF2B5EF4-FFF2-40B4-BE49-F238E27FC236}">
                <a16:creationId xmlns:a16="http://schemas.microsoft.com/office/drawing/2014/main" id="{1E889A54-65E7-4F29-7237-2F03299C52AE}"/>
              </a:ext>
            </a:extLst>
          </p:cNvPr>
          <p:cNvSpPr>
            <a:spLocks noGrp="1"/>
          </p:cNvSpPr>
          <p:nvPr>
            <p:ph type="ftr" sz="quarter" idx="11"/>
          </p:nvPr>
        </p:nvSpPr>
        <p:spPr/>
        <p:txBody>
          <a:bodyPr/>
          <a:lstStyle/>
          <a:p>
            <a:r>
              <a:rPr lang="en-US" dirty="0"/>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4EDCBD08-1303-292D-EEB7-415519A022D9}"/>
              </a:ext>
            </a:extLst>
          </p:cNvPr>
          <p:cNvSpPr>
            <a:spLocks noGrp="1"/>
          </p:cNvSpPr>
          <p:nvPr>
            <p:ph type="sldNum" sz="quarter" idx="12"/>
          </p:nvPr>
        </p:nvSpPr>
        <p:spPr/>
        <p:txBody>
          <a:bodyPr/>
          <a:lstStyle/>
          <a:p>
            <a:fld id="{1631108B-5D83-4953-8F3A-2D4544B1B95C}" type="slidenum">
              <a:rPr lang="en-IN" smtClean="0"/>
              <a:pPr/>
              <a:t>6</a:t>
            </a:fld>
            <a:endParaRPr lang="en-IN" dirty="0"/>
          </a:p>
        </p:txBody>
      </p:sp>
    </p:spTree>
    <p:extLst>
      <p:ext uri="{BB962C8B-B14F-4D97-AF65-F5344CB8AC3E}">
        <p14:creationId xmlns:p14="http://schemas.microsoft.com/office/powerpoint/2010/main" val="1788479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1A57B-997A-4A34-B2F5-743C6DF2C44B}"/>
              </a:ext>
            </a:extLst>
          </p:cNvPr>
          <p:cNvSpPr>
            <a:spLocks noGrp="1"/>
          </p:cNvSpPr>
          <p:nvPr>
            <p:ph type="title"/>
          </p:nvPr>
        </p:nvSpPr>
        <p:spPr/>
        <p:txBody>
          <a:bodyPr/>
          <a:lstStyle/>
          <a:p>
            <a:r>
              <a:rPr lang="en-IN" dirty="0"/>
              <a:t>Literature - brief</a:t>
            </a:r>
          </a:p>
        </p:txBody>
      </p:sp>
      <p:sp>
        <p:nvSpPr>
          <p:cNvPr id="3" name="Content Placeholder 2">
            <a:extLst>
              <a:ext uri="{FF2B5EF4-FFF2-40B4-BE49-F238E27FC236}">
                <a16:creationId xmlns:a16="http://schemas.microsoft.com/office/drawing/2014/main" id="{42AACCA2-4D2F-46E5-969C-BF2928CB9CFE}"/>
              </a:ext>
            </a:extLst>
          </p:cNvPr>
          <p:cNvSpPr>
            <a:spLocks noGrp="1"/>
          </p:cNvSpPr>
          <p:nvPr>
            <p:ph idx="1"/>
          </p:nvPr>
        </p:nvSpPr>
        <p:spPr/>
        <p:txBody>
          <a:bodyPr>
            <a:normAutofit/>
          </a:bodyPr>
          <a:lstStyle/>
          <a:p>
            <a:pPr>
              <a:lnSpc>
                <a:spcPct val="110000"/>
              </a:lnSpc>
            </a:pPr>
            <a:r>
              <a:rPr lang="en-US" sz="2400" b="1" dirty="0"/>
              <a:t>4. Temporal Modeling using HMM</a:t>
            </a:r>
            <a:br>
              <a:rPr lang="en-US" sz="2400" dirty="0"/>
            </a:br>
            <a:r>
              <a:rPr lang="en-US" sz="2400" dirty="0" err="1"/>
              <a:t>HMM</a:t>
            </a:r>
            <a:r>
              <a:rPr lang="en-US" sz="2400" dirty="0"/>
              <a:t> captures sequential transitions between physiological states over time. It models state evolution and helps track progression patterns like stress escalation and recovery using probabilistic transitions.</a:t>
            </a:r>
          </a:p>
          <a:p>
            <a:pPr>
              <a:lnSpc>
                <a:spcPct val="110000"/>
              </a:lnSpc>
            </a:pPr>
            <a:r>
              <a:rPr lang="en-US" sz="2400" b="1" dirty="0"/>
              <a:t>5. Feature Engineering Techniques</a:t>
            </a:r>
            <a:br>
              <a:rPr lang="en-US" sz="2400" dirty="0"/>
            </a:br>
            <a:r>
              <a:rPr lang="en-US" sz="2400" dirty="0"/>
              <a:t>Deviation features compare current values to personal baselines, while rolling trends capture temporal changes. These features improve detection of physiological shifts and help distinguish short-term fluctuations from long-term deterioration.</a:t>
            </a:r>
          </a:p>
        </p:txBody>
      </p:sp>
      <p:sp>
        <p:nvSpPr>
          <p:cNvPr id="4" name="Date Placeholder 3">
            <a:extLst>
              <a:ext uri="{FF2B5EF4-FFF2-40B4-BE49-F238E27FC236}">
                <a16:creationId xmlns:a16="http://schemas.microsoft.com/office/drawing/2014/main" id="{7D8108AC-C890-44D6-8D53-7516B9A46327}"/>
              </a:ext>
            </a:extLst>
          </p:cNvPr>
          <p:cNvSpPr>
            <a:spLocks noGrp="1"/>
          </p:cNvSpPr>
          <p:nvPr>
            <p:ph type="dt" sz="half" idx="10"/>
          </p:nvPr>
        </p:nvSpPr>
        <p:spPr/>
        <p:txBody>
          <a:bodyPr/>
          <a:lstStyle/>
          <a:p>
            <a:r>
              <a:rPr lang="en-IN" b="1" dirty="0"/>
              <a:t>07-06-26</a:t>
            </a:r>
            <a:endParaRPr lang="en-IN" dirty="0"/>
          </a:p>
        </p:txBody>
      </p:sp>
      <p:sp>
        <p:nvSpPr>
          <p:cNvPr id="5" name="Footer Placeholder 4">
            <a:extLst>
              <a:ext uri="{FF2B5EF4-FFF2-40B4-BE49-F238E27FC236}">
                <a16:creationId xmlns:a16="http://schemas.microsoft.com/office/drawing/2014/main" id="{ABE92D29-FFE4-4328-97B0-6DD61044C8F7}"/>
              </a:ext>
            </a:extLst>
          </p:cNvPr>
          <p:cNvSpPr>
            <a:spLocks noGrp="1"/>
          </p:cNvSpPr>
          <p:nvPr>
            <p:ph type="ftr" sz="quarter" idx="11"/>
          </p:nvPr>
        </p:nvSpPr>
        <p:spPr/>
        <p:txBody>
          <a:bodyPr/>
          <a:lstStyle/>
          <a:p>
            <a:r>
              <a:rPr lang="en-US" dirty="0"/>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845C27A2-2538-40BA-9805-D6E37170DCD2}"/>
              </a:ext>
            </a:extLst>
          </p:cNvPr>
          <p:cNvSpPr>
            <a:spLocks noGrp="1"/>
          </p:cNvSpPr>
          <p:nvPr>
            <p:ph type="sldNum" sz="quarter" idx="12"/>
          </p:nvPr>
        </p:nvSpPr>
        <p:spPr/>
        <p:txBody>
          <a:bodyPr/>
          <a:lstStyle/>
          <a:p>
            <a:fld id="{1631108B-5D83-4953-8F3A-2D4544B1B95C}" type="slidenum">
              <a:rPr lang="en-IN" smtClean="0"/>
              <a:pPr/>
              <a:t>7</a:t>
            </a:fld>
            <a:endParaRPr lang="en-IN" dirty="0"/>
          </a:p>
        </p:txBody>
      </p:sp>
    </p:spTree>
    <p:extLst>
      <p:ext uri="{BB962C8B-B14F-4D97-AF65-F5344CB8AC3E}">
        <p14:creationId xmlns:p14="http://schemas.microsoft.com/office/powerpoint/2010/main" val="3506971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54323-40A2-4857-AE96-A928AA4FB118}"/>
              </a:ext>
            </a:extLst>
          </p:cNvPr>
          <p:cNvSpPr>
            <a:spLocks noGrp="1"/>
          </p:cNvSpPr>
          <p:nvPr>
            <p:ph type="title"/>
          </p:nvPr>
        </p:nvSpPr>
        <p:spPr/>
        <p:txBody>
          <a:bodyPr/>
          <a:lstStyle/>
          <a:p>
            <a:r>
              <a:rPr lang="en-IN" dirty="0"/>
              <a:t>	Problem Statement</a:t>
            </a:r>
          </a:p>
        </p:txBody>
      </p:sp>
      <p:sp>
        <p:nvSpPr>
          <p:cNvPr id="3" name="Content Placeholder 2">
            <a:extLst>
              <a:ext uri="{FF2B5EF4-FFF2-40B4-BE49-F238E27FC236}">
                <a16:creationId xmlns:a16="http://schemas.microsoft.com/office/drawing/2014/main" id="{237821B2-B381-4FDC-ADE9-EB7A7FED995D}"/>
              </a:ext>
            </a:extLst>
          </p:cNvPr>
          <p:cNvSpPr>
            <a:spLocks noGrp="1"/>
          </p:cNvSpPr>
          <p:nvPr>
            <p:ph idx="1"/>
          </p:nvPr>
        </p:nvSpPr>
        <p:spPr/>
        <p:txBody>
          <a:bodyPr>
            <a:normAutofit/>
          </a:bodyPr>
          <a:lstStyle/>
          <a:p>
            <a:endParaRPr lang="en-US" dirty="0"/>
          </a:p>
          <a:p>
            <a:endParaRPr lang="en-US" dirty="0"/>
          </a:p>
          <a:p>
            <a:pPr marL="457200" lvl="1" indent="0">
              <a:buNone/>
            </a:pPr>
            <a:r>
              <a:rPr lang="en-US" sz="2800" dirty="0"/>
              <a:t>"Build an intelligent system that transforms daily wearable health data into personalized physiological insights by discovering hidden health states, modelling temporal transitions, and detecting early indicators of health risk — using personal baselines rather than population-level thresholds."</a:t>
            </a:r>
          </a:p>
        </p:txBody>
      </p:sp>
      <p:sp>
        <p:nvSpPr>
          <p:cNvPr id="4" name="Date Placeholder 3">
            <a:extLst>
              <a:ext uri="{FF2B5EF4-FFF2-40B4-BE49-F238E27FC236}">
                <a16:creationId xmlns:a16="http://schemas.microsoft.com/office/drawing/2014/main" id="{A1D4C7B6-FB5B-452C-99E4-141F3E9158A3}"/>
              </a:ext>
            </a:extLst>
          </p:cNvPr>
          <p:cNvSpPr>
            <a:spLocks noGrp="1"/>
          </p:cNvSpPr>
          <p:nvPr>
            <p:ph type="dt" sz="half" idx="10"/>
          </p:nvPr>
        </p:nvSpPr>
        <p:spPr/>
        <p:txBody>
          <a:bodyPr/>
          <a:lstStyle/>
          <a:p>
            <a:r>
              <a:rPr lang="en-IN" b="1" dirty="0"/>
              <a:t>07-06-26</a:t>
            </a:r>
            <a:endParaRPr lang="en-IN" dirty="0"/>
          </a:p>
        </p:txBody>
      </p:sp>
      <p:sp>
        <p:nvSpPr>
          <p:cNvPr id="5" name="Footer Placeholder 4">
            <a:extLst>
              <a:ext uri="{FF2B5EF4-FFF2-40B4-BE49-F238E27FC236}">
                <a16:creationId xmlns:a16="http://schemas.microsoft.com/office/drawing/2014/main" id="{D66A8A76-BAFC-4773-AEDF-9076E499608E}"/>
              </a:ext>
            </a:extLst>
          </p:cNvPr>
          <p:cNvSpPr>
            <a:spLocks noGrp="1"/>
          </p:cNvSpPr>
          <p:nvPr>
            <p:ph type="ftr" sz="quarter" idx="11"/>
          </p:nvPr>
        </p:nvSpPr>
        <p:spPr/>
        <p:txBody>
          <a:bodyPr/>
          <a:lstStyle/>
          <a:p>
            <a:r>
              <a:rPr lang="en-US" dirty="0"/>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C0B67A15-808F-4C01-B2FA-3C6A5B2E9F65}"/>
              </a:ext>
            </a:extLst>
          </p:cNvPr>
          <p:cNvSpPr>
            <a:spLocks noGrp="1"/>
          </p:cNvSpPr>
          <p:nvPr>
            <p:ph type="sldNum" sz="quarter" idx="12"/>
          </p:nvPr>
        </p:nvSpPr>
        <p:spPr/>
        <p:txBody>
          <a:bodyPr/>
          <a:lstStyle/>
          <a:p>
            <a:fld id="{1631108B-5D83-4953-8F3A-2D4544B1B95C}" type="slidenum">
              <a:rPr lang="en-IN" smtClean="0"/>
              <a:pPr/>
              <a:t>8</a:t>
            </a:fld>
            <a:endParaRPr lang="en-IN" dirty="0"/>
          </a:p>
        </p:txBody>
      </p:sp>
    </p:spTree>
    <p:extLst>
      <p:ext uri="{BB962C8B-B14F-4D97-AF65-F5344CB8AC3E}">
        <p14:creationId xmlns:p14="http://schemas.microsoft.com/office/powerpoint/2010/main" val="1114590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2955D-4048-47F6-9F91-2B426421BA40}"/>
              </a:ext>
            </a:extLst>
          </p:cNvPr>
          <p:cNvSpPr>
            <a:spLocks noGrp="1"/>
          </p:cNvSpPr>
          <p:nvPr>
            <p:ph type="title"/>
          </p:nvPr>
        </p:nvSpPr>
        <p:spPr/>
        <p:txBody>
          <a:bodyPr/>
          <a:lstStyle/>
          <a:p>
            <a:r>
              <a:rPr lang="en-IN" dirty="0"/>
              <a:t>  	Objectives</a:t>
            </a:r>
          </a:p>
        </p:txBody>
      </p:sp>
      <p:sp>
        <p:nvSpPr>
          <p:cNvPr id="3" name="Content Placeholder 2">
            <a:extLst>
              <a:ext uri="{FF2B5EF4-FFF2-40B4-BE49-F238E27FC236}">
                <a16:creationId xmlns:a16="http://schemas.microsoft.com/office/drawing/2014/main" id="{E1C3A862-7207-47A2-81F2-CF9B94BD7075}"/>
              </a:ext>
            </a:extLst>
          </p:cNvPr>
          <p:cNvSpPr>
            <a:spLocks noGrp="1"/>
          </p:cNvSpPr>
          <p:nvPr>
            <p:ph idx="1"/>
          </p:nvPr>
        </p:nvSpPr>
        <p:spPr>
          <a:xfrm>
            <a:off x="363683" y="1402773"/>
            <a:ext cx="11585862" cy="4524156"/>
          </a:xfrm>
        </p:spPr>
        <p:txBody>
          <a:bodyPr>
            <a:noAutofit/>
          </a:bodyPr>
          <a:lstStyle/>
          <a:p>
            <a:pPr>
              <a:lnSpc>
                <a:spcPct val="150000"/>
              </a:lnSpc>
            </a:pPr>
            <a:r>
              <a:rPr lang="en-US" sz="2000" dirty="0"/>
              <a:t>1. To process wearable health data and extract personalized physiological indicators through baseline estimation, deviation analysis, and rolling statistical features derived from signals such as heart rate, HRV, sleep, and activity.</a:t>
            </a:r>
          </a:p>
          <a:p>
            <a:pPr>
              <a:lnSpc>
                <a:spcPct val="150000"/>
              </a:lnSpc>
            </a:pPr>
            <a:r>
              <a:rPr lang="en-US" sz="2000" dirty="0"/>
              <a:t> 2. To identify distinct physiological states from wearable signals using unsupervised learning techniques in order to represent user conditions such as recovery, baseline stability, physiological strain, and high stress.</a:t>
            </a:r>
          </a:p>
          <a:p>
            <a:pPr>
              <a:lnSpc>
                <a:spcPct val="150000"/>
              </a:lnSpc>
            </a:pPr>
            <a:r>
              <a:rPr lang="en-US" sz="2000" dirty="0"/>
              <a:t> 3. To analyze the temporal progression of physiological states for each user and generate personalized health insights by modeling state transitions and behavioral patterns over time.</a:t>
            </a:r>
          </a:p>
        </p:txBody>
      </p:sp>
      <p:sp>
        <p:nvSpPr>
          <p:cNvPr id="4" name="Date Placeholder 3">
            <a:extLst>
              <a:ext uri="{FF2B5EF4-FFF2-40B4-BE49-F238E27FC236}">
                <a16:creationId xmlns:a16="http://schemas.microsoft.com/office/drawing/2014/main" id="{2AD9ADDB-E63B-45C2-AD03-2335355C7F51}"/>
              </a:ext>
            </a:extLst>
          </p:cNvPr>
          <p:cNvSpPr>
            <a:spLocks noGrp="1"/>
          </p:cNvSpPr>
          <p:nvPr>
            <p:ph type="dt" sz="half" idx="10"/>
          </p:nvPr>
        </p:nvSpPr>
        <p:spPr/>
        <p:txBody>
          <a:bodyPr/>
          <a:lstStyle/>
          <a:p>
            <a:fld id="{3D8192F2-3BB5-4B54-81EA-45F926E3F755}" type="datetime1">
              <a:rPr lang="en-IN" smtClean="0"/>
              <a:t>07-06-2026</a:t>
            </a:fld>
            <a:endParaRPr lang="en-IN" dirty="0"/>
          </a:p>
        </p:txBody>
      </p:sp>
      <p:sp>
        <p:nvSpPr>
          <p:cNvPr id="5" name="Footer Placeholder 4">
            <a:extLst>
              <a:ext uri="{FF2B5EF4-FFF2-40B4-BE49-F238E27FC236}">
                <a16:creationId xmlns:a16="http://schemas.microsoft.com/office/drawing/2014/main" id="{630BAF57-5DA4-4164-B4FB-5A679F988E7A}"/>
              </a:ext>
            </a:extLst>
          </p:cNvPr>
          <p:cNvSpPr>
            <a:spLocks noGrp="1"/>
          </p:cNvSpPr>
          <p:nvPr>
            <p:ph type="ftr" sz="quarter" idx="11"/>
          </p:nvPr>
        </p:nvSpPr>
        <p:spPr/>
        <p:txBody>
          <a:bodyPr/>
          <a:lstStyle/>
          <a:p>
            <a:r>
              <a:rPr lang="en-US" dirty="0"/>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D23121CC-9E2C-47B3-9C7F-056C0A93858C}"/>
              </a:ext>
            </a:extLst>
          </p:cNvPr>
          <p:cNvSpPr>
            <a:spLocks noGrp="1"/>
          </p:cNvSpPr>
          <p:nvPr>
            <p:ph type="sldNum" sz="quarter" idx="12"/>
          </p:nvPr>
        </p:nvSpPr>
        <p:spPr/>
        <p:txBody>
          <a:bodyPr/>
          <a:lstStyle/>
          <a:p>
            <a:fld id="{1631108B-5D83-4953-8F3A-2D4544B1B95C}" type="slidenum">
              <a:rPr lang="en-IN" smtClean="0"/>
              <a:pPr/>
              <a:t>9</a:t>
            </a:fld>
            <a:endParaRPr lang="en-IN" dirty="0"/>
          </a:p>
        </p:txBody>
      </p:sp>
    </p:spTree>
    <p:extLst>
      <p:ext uri="{BB962C8B-B14F-4D97-AF65-F5344CB8AC3E}">
        <p14:creationId xmlns:p14="http://schemas.microsoft.com/office/powerpoint/2010/main" val="47978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10502-1063-1E93-718D-879A9E4B958D}"/>
              </a:ext>
            </a:extLst>
          </p:cNvPr>
          <p:cNvSpPr>
            <a:spLocks noGrp="1"/>
          </p:cNvSpPr>
          <p:nvPr>
            <p:ph type="title"/>
          </p:nvPr>
        </p:nvSpPr>
        <p:spPr/>
        <p:txBody>
          <a:bodyPr/>
          <a:lstStyle/>
          <a:p>
            <a:r>
              <a:rPr lang="en-IN" dirty="0"/>
              <a:t>Framework/Methodology</a:t>
            </a:r>
          </a:p>
        </p:txBody>
      </p:sp>
      <p:sp>
        <p:nvSpPr>
          <p:cNvPr id="3" name="Content Placeholder 2">
            <a:extLst>
              <a:ext uri="{FF2B5EF4-FFF2-40B4-BE49-F238E27FC236}">
                <a16:creationId xmlns:a16="http://schemas.microsoft.com/office/drawing/2014/main" id="{4D283F9A-FB0F-0298-089B-50D56BA9D48F}"/>
              </a:ext>
            </a:extLst>
          </p:cNvPr>
          <p:cNvSpPr>
            <a:spLocks noGrp="1"/>
          </p:cNvSpPr>
          <p:nvPr>
            <p:ph idx="1"/>
          </p:nvPr>
        </p:nvSpPr>
        <p:spPr/>
        <p:txBody>
          <a:bodyPr>
            <a:normAutofit/>
          </a:bodyPr>
          <a:lstStyle/>
          <a:p>
            <a:pPr marL="0" indent="0">
              <a:buNone/>
            </a:pPr>
            <a:r>
              <a:rPr lang="en-IN" sz="2000" b="1" dirty="0"/>
              <a:t>1. Raw Signal Ingestion and Temporal Alignment</a:t>
            </a:r>
          </a:p>
          <a:p>
            <a:pPr marL="0" indent="0">
              <a:buNone/>
            </a:pPr>
            <a:r>
              <a:rPr lang="en-IN" sz="2000" dirty="0"/>
              <a:t>Multi-modal wearable data (HR, HRV, sleep, steps, SpO₂, BP) is ingested, timestamp-aligned, cleaned via imputation, outlier removal, normalization, and bias correction, then aggregated into daily user-level records</a:t>
            </a:r>
            <a:r>
              <a:rPr lang="en-IN" dirty="0"/>
              <a:t>.</a:t>
            </a:r>
          </a:p>
          <a:p>
            <a:pPr marL="0" indent="0">
              <a:buNone/>
            </a:pPr>
            <a:r>
              <a:rPr lang="en-US" sz="2000" b="1" dirty="0"/>
              <a:t>2. Personalized Baseline Computation</a:t>
            </a:r>
          </a:p>
          <a:p>
            <a:pPr marL="0" indent="0">
              <a:buNone/>
            </a:pPr>
            <a:r>
              <a:rPr lang="en-US" sz="2000" dirty="0"/>
              <a:t>User-specific baselines are computed using rolling means (7–30 days) for each signal, with standard deviations capturing natural variability, replacing population thresholds and enabling personalized physiological normalization.</a:t>
            </a:r>
          </a:p>
          <a:p>
            <a:pPr marL="0" indent="0">
              <a:buNone/>
            </a:pPr>
            <a:r>
              <a:rPr lang="en-IN" sz="2000" b="1" dirty="0"/>
              <a:t>3. Deviation Feature Engineering</a:t>
            </a:r>
          </a:p>
          <a:p>
            <a:pPr marL="0" indent="0">
              <a:buNone/>
            </a:pPr>
            <a:r>
              <a:rPr lang="en-IN" sz="2000" dirty="0"/>
              <a:t>Deviation features (current − baseline) quantify individual physiological shifts independent of absolute values. Positive deviations indicate strain, negative indicate fatigue; Z-score normalization enables cross-user comparability.</a:t>
            </a:r>
          </a:p>
          <a:p>
            <a:pPr marL="0" indent="0">
              <a:buNone/>
            </a:pPr>
            <a:endParaRPr lang="en-IN" sz="2000" dirty="0"/>
          </a:p>
          <a:p>
            <a:endParaRPr lang="en-IN" dirty="0"/>
          </a:p>
        </p:txBody>
      </p:sp>
      <p:sp>
        <p:nvSpPr>
          <p:cNvPr id="4" name="Date Placeholder 3">
            <a:extLst>
              <a:ext uri="{FF2B5EF4-FFF2-40B4-BE49-F238E27FC236}">
                <a16:creationId xmlns:a16="http://schemas.microsoft.com/office/drawing/2014/main" id="{278CF8FA-9A04-3E40-71EA-7B5231815DAF}"/>
              </a:ext>
            </a:extLst>
          </p:cNvPr>
          <p:cNvSpPr>
            <a:spLocks noGrp="1"/>
          </p:cNvSpPr>
          <p:nvPr>
            <p:ph type="dt" sz="half" idx="10"/>
          </p:nvPr>
        </p:nvSpPr>
        <p:spPr/>
        <p:txBody>
          <a:bodyPr/>
          <a:lstStyle/>
          <a:p>
            <a:fld id="{64F878E6-5DE8-41D3-A3D4-164024813DEA}" type="datetime1">
              <a:rPr lang="en-IN" smtClean="0"/>
              <a:t>07-06-2026</a:t>
            </a:fld>
            <a:endParaRPr lang="en-IN" dirty="0"/>
          </a:p>
        </p:txBody>
      </p:sp>
      <p:sp>
        <p:nvSpPr>
          <p:cNvPr id="5" name="Footer Placeholder 4">
            <a:extLst>
              <a:ext uri="{FF2B5EF4-FFF2-40B4-BE49-F238E27FC236}">
                <a16:creationId xmlns:a16="http://schemas.microsoft.com/office/drawing/2014/main" id="{959BEB08-E1C6-7999-1030-96BEA92DC38F}"/>
              </a:ext>
            </a:extLst>
          </p:cNvPr>
          <p:cNvSpPr>
            <a:spLocks noGrp="1"/>
          </p:cNvSpPr>
          <p:nvPr>
            <p:ph type="ftr" sz="quarter" idx="11"/>
          </p:nvPr>
        </p:nvSpPr>
        <p:spPr/>
        <p:txBody>
          <a:bodyPr/>
          <a:lstStyle/>
          <a:p>
            <a:r>
              <a:rPr lang="en-US"/>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247859A0-F9B7-BF8B-D018-6850F89B0FD5}"/>
              </a:ext>
            </a:extLst>
          </p:cNvPr>
          <p:cNvSpPr>
            <a:spLocks noGrp="1"/>
          </p:cNvSpPr>
          <p:nvPr>
            <p:ph type="sldNum" sz="quarter" idx="12"/>
          </p:nvPr>
        </p:nvSpPr>
        <p:spPr/>
        <p:txBody>
          <a:bodyPr/>
          <a:lstStyle/>
          <a:p>
            <a:fld id="{1631108B-5D83-4953-8F3A-2D4544B1B95C}" type="slidenum">
              <a:rPr lang="en-IN" smtClean="0"/>
              <a:pPr/>
              <a:t>10</a:t>
            </a:fld>
            <a:endParaRPr lang="en-IN" dirty="0"/>
          </a:p>
        </p:txBody>
      </p:sp>
    </p:spTree>
    <p:extLst>
      <p:ext uri="{BB962C8B-B14F-4D97-AF65-F5344CB8AC3E}">
        <p14:creationId xmlns:p14="http://schemas.microsoft.com/office/powerpoint/2010/main" val="1621380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EDA92-0709-066C-D326-1F595964ACE0}"/>
              </a:ext>
            </a:extLst>
          </p:cNvPr>
          <p:cNvSpPr>
            <a:spLocks noGrp="1"/>
          </p:cNvSpPr>
          <p:nvPr>
            <p:ph type="title"/>
          </p:nvPr>
        </p:nvSpPr>
        <p:spPr/>
        <p:txBody>
          <a:bodyPr/>
          <a:lstStyle/>
          <a:p>
            <a:r>
              <a:rPr lang="en-IN" dirty="0"/>
              <a:t>Framework/Methodology</a:t>
            </a:r>
          </a:p>
        </p:txBody>
      </p:sp>
      <p:sp>
        <p:nvSpPr>
          <p:cNvPr id="3" name="Content Placeholder 2">
            <a:extLst>
              <a:ext uri="{FF2B5EF4-FFF2-40B4-BE49-F238E27FC236}">
                <a16:creationId xmlns:a16="http://schemas.microsoft.com/office/drawing/2014/main" id="{6A16AE53-91B7-B153-976C-AC7CFE60BBBD}"/>
              </a:ext>
            </a:extLst>
          </p:cNvPr>
          <p:cNvSpPr>
            <a:spLocks noGrp="1"/>
          </p:cNvSpPr>
          <p:nvPr>
            <p:ph idx="1"/>
          </p:nvPr>
        </p:nvSpPr>
        <p:spPr/>
        <p:txBody>
          <a:bodyPr>
            <a:normAutofit fontScale="85000" lnSpcReduction="20000"/>
          </a:bodyPr>
          <a:lstStyle/>
          <a:p>
            <a:pPr marL="0" indent="0">
              <a:buNone/>
            </a:pPr>
            <a:r>
              <a:rPr lang="en-IN" b="1" dirty="0"/>
              <a:t>4. Temporal Trend Feature Extraction</a:t>
            </a:r>
          </a:p>
          <a:p>
            <a:pPr marL="0" indent="0">
              <a:buNone/>
            </a:pPr>
            <a:r>
              <a:rPr lang="en-IN" dirty="0"/>
              <a:t>7-day rolling slopes via regression capture physiological trajectories. Positive slopes indicate increasing stress, negative indicate recovery, while HRV-CV measures autonomic stability and distinguishes transient vs chronic patterns.</a:t>
            </a:r>
            <a:br>
              <a:rPr lang="en-IN" dirty="0"/>
            </a:br>
            <a:endParaRPr lang="en-IN" dirty="0"/>
          </a:p>
          <a:p>
            <a:pPr marL="0" indent="0">
              <a:buNone/>
            </a:pPr>
            <a:r>
              <a:rPr lang="en-IN" b="1" dirty="0"/>
              <a:t>5. Composite Severity and Anomaly Scoring</a:t>
            </a:r>
          </a:p>
          <a:p>
            <a:pPr marL="0" indent="0">
              <a:buNone/>
            </a:pPr>
            <a:r>
              <a:rPr lang="en-IN" dirty="0"/>
              <a:t>Normalized deviations are aggregated into severity scores, with trend scores capturing temporal changes. Anomaly flags trigger when severity exceeds user-specific thresholds, bridging raw signals to interpretable physiological states.</a:t>
            </a:r>
            <a:br>
              <a:rPr lang="en-IN" dirty="0"/>
            </a:br>
            <a:endParaRPr lang="en-IN" dirty="0"/>
          </a:p>
          <a:p>
            <a:pPr marL="0" indent="0">
              <a:buNone/>
            </a:pPr>
            <a:r>
              <a:rPr lang="en-IN" b="1" dirty="0"/>
              <a:t>6. Unsupervised Clustering (</a:t>
            </a:r>
            <a:r>
              <a:rPr lang="en-IN" b="1" dirty="0" err="1"/>
              <a:t>KMeans</a:t>
            </a:r>
            <a:r>
              <a:rPr lang="en-IN" b="1" dirty="0"/>
              <a:t> + GMM)</a:t>
            </a:r>
          </a:p>
          <a:p>
            <a:pPr marL="0" indent="0">
              <a:buNone/>
            </a:pPr>
            <a:r>
              <a:rPr lang="en-IN" dirty="0"/>
              <a:t>Feature-engineered data is clustered using </a:t>
            </a:r>
            <a:r>
              <a:rPr lang="en-IN" dirty="0" err="1"/>
              <a:t>KMeans</a:t>
            </a:r>
            <a:r>
              <a:rPr lang="en-IN" dirty="0"/>
              <a:t> (hard labels) and GMM (probabilistic). Model quality is evaluated via Silhouette, DB, CH indices, with optimal K selection and clusters mapped to physiological states.</a:t>
            </a:r>
          </a:p>
          <a:p>
            <a:endParaRPr lang="en-IN" dirty="0"/>
          </a:p>
        </p:txBody>
      </p:sp>
      <p:sp>
        <p:nvSpPr>
          <p:cNvPr id="4" name="Date Placeholder 3">
            <a:extLst>
              <a:ext uri="{FF2B5EF4-FFF2-40B4-BE49-F238E27FC236}">
                <a16:creationId xmlns:a16="http://schemas.microsoft.com/office/drawing/2014/main" id="{AD612EE1-3DAF-4CBA-8922-62654D29D6F7}"/>
              </a:ext>
            </a:extLst>
          </p:cNvPr>
          <p:cNvSpPr>
            <a:spLocks noGrp="1"/>
          </p:cNvSpPr>
          <p:nvPr>
            <p:ph type="dt" sz="half" idx="10"/>
          </p:nvPr>
        </p:nvSpPr>
        <p:spPr/>
        <p:txBody>
          <a:bodyPr/>
          <a:lstStyle/>
          <a:p>
            <a:fld id="{64F878E6-5DE8-41D3-A3D4-164024813DEA}" type="datetime1">
              <a:rPr lang="en-IN" smtClean="0"/>
              <a:t>07-06-2026</a:t>
            </a:fld>
            <a:endParaRPr lang="en-IN" dirty="0"/>
          </a:p>
        </p:txBody>
      </p:sp>
      <p:sp>
        <p:nvSpPr>
          <p:cNvPr id="5" name="Footer Placeholder 4">
            <a:extLst>
              <a:ext uri="{FF2B5EF4-FFF2-40B4-BE49-F238E27FC236}">
                <a16:creationId xmlns:a16="http://schemas.microsoft.com/office/drawing/2014/main" id="{CD363E9D-335C-5F35-10AD-34CE202BB2C4}"/>
              </a:ext>
            </a:extLst>
          </p:cNvPr>
          <p:cNvSpPr>
            <a:spLocks noGrp="1"/>
          </p:cNvSpPr>
          <p:nvPr>
            <p:ph type="ftr" sz="quarter" idx="11"/>
          </p:nvPr>
        </p:nvSpPr>
        <p:spPr/>
        <p:txBody>
          <a:bodyPr/>
          <a:lstStyle/>
          <a:p>
            <a:r>
              <a:rPr lang="en-US"/>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ED861078-A6A9-87E2-02E6-916751AA698F}"/>
              </a:ext>
            </a:extLst>
          </p:cNvPr>
          <p:cNvSpPr>
            <a:spLocks noGrp="1"/>
          </p:cNvSpPr>
          <p:nvPr>
            <p:ph type="sldNum" sz="quarter" idx="12"/>
          </p:nvPr>
        </p:nvSpPr>
        <p:spPr/>
        <p:txBody>
          <a:bodyPr/>
          <a:lstStyle/>
          <a:p>
            <a:fld id="{1631108B-5D83-4953-8F3A-2D4544B1B95C}" type="slidenum">
              <a:rPr lang="en-IN" smtClean="0"/>
              <a:pPr/>
              <a:t>11</a:t>
            </a:fld>
            <a:endParaRPr lang="en-IN" dirty="0"/>
          </a:p>
        </p:txBody>
      </p:sp>
    </p:spTree>
    <p:extLst>
      <p:ext uri="{BB962C8B-B14F-4D97-AF65-F5344CB8AC3E}">
        <p14:creationId xmlns:p14="http://schemas.microsoft.com/office/powerpoint/2010/main" val="1075176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9D36D-6A20-C458-A04B-47244B391D27}"/>
              </a:ext>
            </a:extLst>
          </p:cNvPr>
          <p:cNvSpPr>
            <a:spLocks noGrp="1"/>
          </p:cNvSpPr>
          <p:nvPr>
            <p:ph type="title"/>
          </p:nvPr>
        </p:nvSpPr>
        <p:spPr/>
        <p:txBody>
          <a:bodyPr/>
          <a:lstStyle/>
          <a:p>
            <a:r>
              <a:rPr lang="en-IN" dirty="0"/>
              <a:t>Framework/Methodology</a:t>
            </a:r>
          </a:p>
        </p:txBody>
      </p:sp>
      <p:sp>
        <p:nvSpPr>
          <p:cNvPr id="3" name="Content Placeholder 2">
            <a:extLst>
              <a:ext uri="{FF2B5EF4-FFF2-40B4-BE49-F238E27FC236}">
                <a16:creationId xmlns:a16="http://schemas.microsoft.com/office/drawing/2014/main" id="{34B8DEC4-93F7-962B-1C59-0EE96CCCE461}"/>
              </a:ext>
            </a:extLst>
          </p:cNvPr>
          <p:cNvSpPr>
            <a:spLocks noGrp="1"/>
          </p:cNvSpPr>
          <p:nvPr>
            <p:ph idx="1"/>
          </p:nvPr>
        </p:nvSpPr>
        <p:spPr/>
        <p:txBody>
          <a:bodyPr>
            <a:normAutofit fontScale="85000" lnSpcReduction="20000"/>
          </a:bodyPr>
          <a:lstStyle/>
          <a:p>
            <a:pPr marL="0" indent="0">
              <a:buNone/>
            </a:pPr>
            <a:r>
              <a:rPr lang="en-IN" b="1" dirty="0"/>
              <a:t>7. Hidden Markov Model (HMM)</a:t>
            </a:r>
            <a:br>
              <a:rPr lang="en-IN" dirty="0"/>
            </a:br>
            <a:r>
              <a:rPr lang="en-IN" dirty="0"/>
              <a:t>HMM models cluster sequences to learn states, transitions, and emissions; Viterbi decoding infers most probable sequences, capturing escalation and recovery dynamics.</a:t>
            </a:r>
          </a:p>
          <a:p>
            <a:pPr marL="0" indent="0">
              <a:buNone/>
            </a:pPr>
            <a:r>
              <a:rPr lang="en-IN" b="1" dirty="0"/>
              <a:t>8. State-Based Risk Indicators</a:t>
            </a:r>
            <a:br>
              <a:rPr lang="en-IN" dirty="0"/>
            </a:br>
            <a:r>
              <a:rPr lang="en-IN" dirty="0"/>
              <a:t>Physiological states generate multi-dimensional risks (cardiovascular, respiratory, mental, metabolic), expressed as interpretable 7-day rolling percentage risk scores, not absolute predictions.</a:t>
            </a:r>
          </a:p>
          <a:p>
            <a:pPr marL="0" indent="0">
              <a:buNone/>
            </a:pPr>
            <a:r>
              <a:rPr lang="en-IN" b="1" dirty="0"/>
              <a:t>9. Model Evaluation and Comparison</a:t>
            </a:r>
            <a:br>
              <a:rPr lang="en-IN" dirty="0"/>
            </a:br>
            <a:r>
              <a:rPr lang="en-IN" dirty="0" err="1"/>
              <a:t>KMeans+HMM</a:t>
            </a:r>
            <a:r>
              <a:rPr lang="en-IN" dirty="0"/>
              <a:t> and GMM+HMM are evaluated using clustering and temporal metrics; state distributions and stress ordering validate biological plausibility and </a:t>
            </a:r>
            <a:r>
              <a:rPr lang="en-IN" dirty="0" err="1"/>
              <a:t>behavior</a:t>
            </a:r>
            <a:r>
              <a:rPr lang="en-IN" dirty="0"/>
              <a:t> patterns.</a:t>
            </a:r>
          </a:p>
          <a:p>
            <a:pPr marL="0" indent="0">
              <a:buNone/>
            </a:pPr>
            <a:r>
              <a:rPr lang="en-IN" b="1" dirty="0"/>
              <a:t>10. Pattern Analysis and Insight Generation</a:t>
            </a:r>
            <a:br>
              <a:rPr lang="en-IN" dirty="0"/>
            </a:br>
            <a:r>
              <a:rPr lang="en-IN" dirty="0"/>
              <a:t>State timelines reveal recovery cycles, stress trends, and early warnings; personalized insights identify high-risk patterns, enabling proactive intervention and interpretable outputs.</a:t>
            </a:r>
          </a:p>
          <a:p>
            <a:endParaRPr lang="en-IN" dirty="0"/>
          </a:p>
        </p:txBody>
      </p:sp>
      <p:sp>
        <p:nvSpPr>
          <p:cNvPr id="4" name="Date Placeholder 3">
            <a:extLst>
              <a:ext uri="{FF2B5EF4-FFF2-40B4-BE49-F238E27FC236}">
                <a16:creationId xmlns:a16="http://schemas.microsoft.com/office/drawing/2014/main" id="{3A4DC2A9-4FBF-29D6-E3E2-AB7D46EFD19E}"/>
              </a:ext>
            </a:extLst>
          </p:cNvPr>
          <p:cNvSpPr>
            <a:spLocks noGrp="1"/>
          </p:cNvSpPr>
          <p:nvPr>
            <p:ph type="dt" sz="half" idx="10"/>
          </p:nvPr>
        </p:nvSpPr>
        <p:spPr/>
        <p:txBody>
          <a:bodyPr/>
          <a:lstStyle/>
          <a:p>
            <a:fld id="{64F878E6-5DE8-41D3-A3D4-164024813DEA}" type="datetime1">
              <a:rPr lang="en-IN" smtClean="0"/>
              <a:t>07-06-2026</a:t>
            </a:fld>
            <a:endParaRPr lang="en-IN" dirty="0"/>
          </a:p>
        </p:txBody>
      </p:sp>
      <p:sp>
        <p:nvSpPr>
          <p:cNvPr id="5" name="Footer Placeholder 4">
            <a:extLst>
              <a:ext uri="{FF2B5EF4-FFF2-40B4-BE49-F238E27FC236}">
                <a16:creationId xmlns:a16="http://schemas.microsoft.com/office/drawing/2014/main" id="{15787B77-00E9-C5FF-F2FD-1D59CA2DECC4}"/>
              </a:ext>
            </a:extLst>
          </p:cNvPr>
          <p:cNvSpPr>
            <a:spLocks noGrp="1"/>
          </p:cNvSpPr>
          <p:nvPr>
            <p:ph type="ftr" sz="quarter" idx="11"/>
          </p:nvPr>
        </p:nvSpPr>
        <p:spPr/>
        <p:txBody>
          <a:bodyPr/>
          <a:lstStyle/>
          <a:p>
            <a:r>
              <a:rPr lang="en-US"/>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5288F79F-8279-1638-723C-2FAE18B1D6BE}"/>
              </a:ext>
            </a:extLst>
          </p:cNvPr>
          <p:cNvSpPr>
            <a:spLocks noGrp="1"/>
          </p:cNvSpPr>
          <p:nvPr>
            <p:ph type="sldNum" sz="quarter" idx="12"/>
          </p:nvPr>
        </p:nvSpPr>
        <p:spPr/>
        <p:txBody>
          <a:bodyPr/>
          <a:lstStyle/>
          <a:p>
            <a:fld id="{1631108B-5D83-4953-8F3A-2D4544B1B95C}" type="slidenum">
              <a:rPr lang="en-IN" smtClean="0"/>
              <a:pPr/>
              <a:t>12</a:t>
            </a:fld>
            <a:endParaRPr lang="en-IN" dirty="0"/>
          </a:p>
        </p:txBody>
      </p:sp>
    </p:spTree>
    <p:extLst>
      <p:ext uri="{BB962C8B-B14F-4D97-AF65-F5344CB8AC3E}">
        <p14:creationId xmlns:p14="http://schemas.microsoft.com/office/powerpoint/2010/main" val="3022950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4C15F-66C1-DC30-6D39-4E2449724C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521D91-9B97-9A19-FEA0-8F29211C8297}"/>
              </a:ext>
            </a:extLst>
          </p:cNvPr>
          <p:cNvSpPr>
            <a:spLocks noGrp="1"/>
          </p:cNvSpPr>
          <p:nvPr>
            <p:ph type="title"/>
          </p:nvPr>
        </p:nvSpPr>
        <p:spPr/>
        <p:txBody>
          <a:bodyPr/>
          <a:lstStyle/>
          <a:p>
            <a:r>
              <a:rPr lang="en-US" dirty="0"/>
              <a:t>F</a:t>
            </a:r>
            <a:r>
              <a:rPr lang="en-IN" dirty="0"/>
              <a:t>low Chart</a:t>
            </a:r>
          </a:p>
        </p:txBody>
      </p:sp>
      <p:sp>
        <p:nvSpPr>
          <p:cNvPr id="4" name="Date Placeholder 3">
            <a:extLst>
              <a:ext uri="{FF2B5EF4-FFF2-40B4-BE49-F238E27FC236}">
                <a16:creationId xmlns:a16="http://schemas.microsoft.com/office/drawing/2014/main" id="{938045E6-51F9-578F-C941-767C8BC5DB96}"/>
              </a:ext>
            </a:extLst>
          </p:cNvPr>
          <p:cNvSpPr>
            <a:spLocks noGrp="1"/>
          </p:cNvSpPr>
          <p:nvPr>
            <p:ph type="dt" sz="half" idx="10"/>
          </p:nvPr>
        </p:nvSpPr>
        <p:spPr/>
        <p:txBody>
          <a:bodyPr/>
          <a:lstStyle/>
          <a:p>
            <a:r>
              <a:rPr lang="en-IN" b="1" dirty="0"/>
              <a:t>07-06-26</a:t>
            </a:r>
            <a:endParaRPr lang="en-IN" dirty="0"/>
          </a:p>
        </p:txBody>
      </p:sp>
      <p:sp>
        <p:nvSpPr>
          <p:cNvPr id="5" name="Footer Placeholder 4">
            <a:extLst>
              <a:ext uri="{FF2B5EF4-FFF2-40B4-BE49-F238E27FC236}">
                <a16:creationId xmlns:a16="http://schemas.microsoft.com/office/drawing/2014/main" id="{F3106C18-B12D-75C8-5566-A6EEFEC20237}"/>
              </a:ext>
            </a:extLst>
          </p:cNvPr>
          <p:cNvSpPr>
            <a:spLocks noGrp="1"/>
          </p:cNvSpPr>
          <p:nvPr>
            <p:ph type="ftr" sz="quarter" idx="11"/>
          </p:nvPr>
        </p:nvSpPr>
        <p:spPr/>
        <p:txBody>
          <a:bodyPr/>
          <a:lstStyle/>
          <a:p>
            <a:r>
              <a:rPr lang="en-US" dirty="0"/>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58053C96-B7A2-5F01-02C9-4CE87F1F112B}"/>
              </a:ext>
            </a:extLst>
          </p:cNvPr>
          <p:cNvSpPr>
            <a:spLocks noGrp="1"/>
          </p:cNvSpPr>
          <p:nvPr>
            <p:ph type="sldNum" sz="quarter" idx="12"/>
          </p:nvPr>
        </p:nvSpPr>
        <p:spPr/>
        <p:txBody>
          <a:bodyPr/>
          <a:lstStyle/>
          <a:p>
            <a:fld id="{1631108B-5D83-4953-8F3A-2D4544B1B95C}" type="slidenum">
              <a:rPr lang="en-IN" smtClean="0"/>
              <a:pPr/>
              <a:t>13</a:t>
            </a:fld>
            <a:endParaRPr lang="en-IN" dirty="0"/>
          </a:p>
        </p:txBody>
      </p:sp>
      <p:pic>
        <p:nvPicPr>
          <p:cNvPr id="14" name="Picture 13">
            <a:extLst>
              <a:ext uri="{FF2B5EF4-FFF2-40B4-BE49-F238E27FC236}">
                <a16:creationId xmlns:a16="http://schemas.microsoft.com/office/drawing/2014/main" id="{076EEBB9-A5BF-9885-1DED-62CF71C024C7}"/>
              </a:ext>
            </a:extLst>
          </p:cNvPr>
          <p:cNvPicPr>
            <a:picLocks noChangeAspect="1"/>
          </p:cNvPicPr>
          <p:nvPr/>
        </p:nvPicPr>
        <p:blipFill>
          <a:blip r:embed="rId2"/>
          <a:stretch>
            <a:fillRect/>
          </a:stretch>
        </p:blipFill>
        <p:spPr>
          <a:xfrm>
            <a:off x="0" y="1325560"/>
            <a:ext cx="12192000" cy="4831400"/>
          </a:xfrm>
          <a:prstGeom prst="rect">
            <a:avLst/>
          </a:prstGeom>
        </p:spPr>
      </p:pic>
    </p:spTree>
    <p:extLst>
      <p:ext uri="{BB962C8B-B14F-4D97-AF65-F5344CB8AC3E}">
        <p14:creationId xmlns:p14="http://schemas.microsoft.com/office/powerpoint/2010/main" val="3671449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C3121-67A6-14BE-1C09-092C1795DD2B}"/>
              </a:ext>
            </a:extLst>
          </p:cNvPr>
          <p:cNvSpPr>
            <a:spLocks noGrp="1"/>
          </p:cNvSpPr>
          <p:nvPr>
            <p:ph type="title"/>
          </p:nvPr>
        </p:nvSpPr>
        <p:spPr/>
        <p:txBody>
          <a:bodyPr/>
          <a:lstStyle/>
          <a:p>
            <a:r>
              <a:rPr lang="en-IN" dirty="0"/>
              <a:t>METHODOLOGY</a:t>
            </a:r>
          </a:p>
        </p:txBody>
      </p:sp>
      <p:pic>
        <p:nvPicPr>
          <p:cNvPr id="8" name="Content Placeholder 7">
            <a:extLst>
              <a:ext uri="{FF2B5EF4-FFF2-40B4-BE49-F238E27FC236}">
                <a16:creationId xmlns:a16="http://schemas.microsoft.com/office/drawing/2014/main" id="{2C1406D6-A18C-A9AE-BF2F-F0E9D520E8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325560"/>
            <a:ext cx="12258358" cy="4935281"/>
          </a:xfrm>
          <a:prstGeom prst="rect">
            <a:avLst/>
          </a:prstGeom>
        </p:spPr>
      </p:pic>
      <p:sp>
        <p:nvSpPr>
          <p:cNvPr id="4" name="Date Placeholder 3">
            <a:extLst>
              <a:ext uri="{FF2B5EF4-FFF2-40B4-BE49-F238E27FC236}">
                <a16:creationId xmlns:a16="http://schemas.microsoft.com/office/drawing/2014/main" id="{1FE25FC2-BCCF-EC6F-1A8C-DB580FD6E9CF}"/>
              </a:ext>
            </a:extLst>
          </p:cNvPr>
          <p:cNvSpPr>
            <a:spLocks noGrp="1"/>
          </p:cNvSpPr>
          <p:nvPr>
            <p:ph type="dt" sz="half" idx="10"/>
          </p:nvPr>
        </p:nvSpPr>
        <p:spPr/>
        <p:txBody>
          <a:bodyPr/>
          <a:lstStyle/>
          <a:p>
            <a:fld id="{64F878E6-5DE8-41D3-A3D4-164024813DEA}" type="datetime1">
              <a:rPr lang="en-IN" smtClean="0"/>
              <a:t>07-06-2026</a:t>
            </a:fld>
            <a:endParaRPr lang="en-IN" dirty="0"/>
          </a:p>
        </p:txBody>
      </p:sp>
      <p:sp>
        <p:nvSpPr>
          <p:cNvPr id="5" name="Footer Placeholder 4">
            <a:extLst>
              <a:ext uri="{FF2B5EF4-FFF2-40B4-BE49-F238E27FC236}">
                <a16:creationId xmlns:a16="http://schemas.microsoft.com/office/drawing/2014/main" id="{1A9CBB74-A698-1722-203D-A477F25764D3}"/>
              </a:ext>
            </a:extLst>
          </p:cNvPr>
          <p:cNvSpPr>
            <a:spLocks noGrp="1"/>
          </p:cNvSpPr>
          <p:nvPr>
            <p:ph type="ftr" sz="quarter" idx="11"/>
          </p:nvPr>
        </p:nvSpPr>
        <p:spPr/>
        <p:txBody>
          <a:bodyPr/>
          <a:lstStyle/>
          <a:p>
            <a:r>
              <a:rPr lang="en-US"/>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3AE9ACAD-A4A4-BC78-3007-4BCB32962983}"/>
              </a:ext>
            </a:extLst>
          </p:cNvPr>
          <p:cNvSpPr>
            <a:spLocks noGrp="1"/>
          </p:cNvSpPr>
          <p:nvPr>
            <p:ph type="sldNum" sz="quarter" idx="12"/>
          </p:nvPr>
        </p:nvSpPr>
        <p:spPr/>
        <p:txBody>
          <a:bodyPr/>
          <a:lstStyle/>
          <a:p>
            <a:fld id="{1631108B-5D83-4953-8F3A-2D4544B1B95C}" type="slidenum">
              <a:rPr lang="en-IN" smtClean="0"/>
              <a:pPr/>
              <a:t>14</a:t>
            </a:fld>
            <a:endParaRPr lang="en-IN" dirty="0"/>
          </a:p>
        </p:txBody>
      </p:sp>
    </p:spTree>
    <p:extLst>
      <p:ext uri="{BB962C8B-B14F-4D97-AF65-F5344CB8AC3E}">
        <p14:creationId xmlns:p14="http://schemas.microsoft.com/office/powerpoint/2010/main" val="844287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4DF6B-F6A0-177E-4F32-C3D56783E68F}"/>
              </a:ext>
            </a:extLst>
          </p:cNvPr>
          <p:cNvSpPr>
            <a:spLocks noGrp="1"/>
          </p:cNvSpPr>
          <p:nvPr>
            <p:ph type="title"/>
          </p:nvPr>
        </p:nvSpPr>
        <p:spPr/>
        <p:txBody>
          <a:bodyPr/>
          <a:lstStyle/>
          <a:p>
            <a:r>
              <a:rPr lang="en-US" dirty="0"/>
              <a:t>Output</a:t>
            </a:r>
            <a:endParaRPr lang="en-IN" dirty="0"/>
          </a:p>
        </p:txBody>
      </p:sp>
      <p:sp>
        <p:nvSpPr>
          <p:cNvPr id="4" name="Date Placeholder 3">
            <a:extLst>
              <a:ext uri="{FF2B5EF4-FFF2-40B4-BE49-F238E27FC236}">
                <a16:creationId xmlns:a16="http://schemas.microsoft.com/office/drawing/2014/main" id="{9B985654-DA88-BDE4-9BAA-699C7102BE7A}"/>
              </a:ext>
            </a:extLst>
          </p:cNvPr>
          <p:cNvSpPr>
            <a:spLocks noGrp="1"/>
          </p:cNvSpPr>
          <p:nvPr>
            <p:ph type="dt" sz="half" idx="10"/>
          </p:nvPr>
        </p:nvSpPr>
        <p:spPr/>
        <p:txBody>
          <a:bodyPr/>
          <a:lstStyle/>
          <a:p>
            <a:fld id="{64F878E6-5DE8-41D3-A3D4-164024813DEA}" type="datetime1">
              <a:rPr lang="en-IN" smtClean="0"/>
              <a:t>07-06-2026</a:t>
            </a:fld>
            <a:endParaRPr lang="en-IN" dirty="0"/>
          </a:p>
        </p:txBody>
      </p:sp>
      <p:sp>
        <p:nvSpPr>
          <p:cNvPr id="5" name="Footer Placeholder 4">
            <a:extLst>
              <a:ext uri="{FF2B5EF4-FFF2-40B4-BE49-F238E27FC236}">
                <a16:creationId xmlns:a16="http://schemas.microsoft.com/office/drawing/2014/main" id="{26647A64-D389-A60F-CA06-717C99CA83CE}"/>
              </a:ext>
            </a:extLst>
          </p:cNvPr>
          <p:cNvSpPr>
            <a:spLocks noGrp="1"/>
          </p:cNvSpPr>
          <p:nvPr>
            <p:ph type="ftr" sz="quarter" idx="11"/>
          </p:nvPr>
        </p:nvSpPr>
        <p:spPr/>
        <p:txBody>
          <a:bodyPr/>
          <a:lstStyle/>
          <a:p>
            <a:r>
              <a:rPr lang="en-US"/>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4843FA10-C9E5-F90F-8374-0A2AB4002872}"/>
              </a:ext>
            </a:extLst>
          </p:cNvPr>
          <p:cNvSpPr>
            <a:spLocks noGrp="1"/>
          </p:cNvSpPr>
          <p:nvPr>
            <p:ph type="sldNum" sz="quarter" idx="12"/>
          </p:nvPr>
        </p:nvSpPr>
        <p:spPr/>
        <p:txBody>
          <a:bodyPr/>
          <a:lstStyle/>
          <a:p>
            <a:fld id="{1631108B-5D83-4953-8F3A-2D4544B1B95C}" type="slidenum">
              <a:rPr lang="en-IN" smtClean="0"/>
              <a:pPr/>
              <a:t>15</a:t>
            </a:fld>
            <a:endParaRPr lang="en-IN" dirty="0"/>
          </a:p>
        </p:txBody>
      </p:sp>
      <p:pic>
        <p:nvPicPr>
          <p:cNvPr id="12" name="Picture 11">
            <a:extLst>
              <a:ext uri="{FF2B5EF4-FFF2-40B4-BE49-F238E27FC236}">
                <a16:creationId xmlns:a16="http://schemas.microsoft.com/office/drawing/2014/main" id="{58AA4F8D-22F4-4CAF-C313-AD9BEEF0D4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30400"/>
            <a:ext cx="6084455" cy="4210999"/>
          </a:xfrm>
          <a:prstGeom prst="rect">
            <a:avLst/>
          </a:prstGeom>
        </p:spPr>
      </p:pic>
      <p:pic>
        <p:nvPicPr>
          <p:cNvPr id="14" name="Picture 13">
            <a:extLst>
              <a:ext uri="{FF2B5EF4-FFF2-40B4-BE49-F238E27FC236}">
                <a16:creationId xmlns:a16="http://schemas.microsoft.com/office/drawing/2014/main" id="{A37F79E4-2C29-C5D6-4179-BC8935125B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4454" y="1930399"/>
            <a:ext cx="6067281" cy="4210999"/>
          </a:xfrm>
          <a:prstGeom prst="rect">
            <a:avLst/>
          </a:prstGeom>
        </p:spPr>
      </p:pic>
      <p:sp>
        <p:nvSpPr>
          <p:cNvPr id="15" name="TextBox 14">
            <a:extLst>
              <a:ext uri="{FF2B5EF4-FFF2-40B4-BE49-F238E27FC236}">
                <a16:creationId xmlns:a16="http://schemas.microsoft.com/office/drawing/2014/main" id="{B74B36CD-FD58-5922-5184-D51E870087BF}"/>
              </a:ext>
            </a:extLst>
          </p:cNvPr>
          <p:cNvSpPr txBox="1"/>
          <p:nvPr/>
        </p:nvSpPr>
        <p:spPr>
          <a:xfrm>
            <a:off x="265544" y="1376402"/>
            <a:ext cx="3107575" cy="523220"/>
          </a:xfrm>
          <a:prstGeom prst="rect">
            <a:avLst/>
          </a:prstGeom>
          <a:noFill/>
        </p:spPr>
        <p:txBody>
          <a:bodyPr wrap="square" rtlCol="0">
            <a:spAutoFit/>
          </a:bodyPr>
          <a:lstStyle/>
          <a:p>
            <a:r>
              <a:rPr lang="en-US" sz="2800" dirty="0"/>
              <a:t>GMM+HMM</a:t>
            </a:r>
            <a:endParaRPr lang="en-IN" sz="2800" dirty="0"/>
          </a:p>
        </p:txBody>
      </p:sp>
      <p:sp>
        <p:nvSpPr>
          <p:cNvPr id="16" name="TextBox 15">
            <a:extLst>
              <a:ext uri="{FF2B5EF4-FFF2-40B4-BE49-F238E27FC236}">
                <a16:creationId xmlns:a16="http://schemas.microsoft.com/office/drawing/2014/main" id="{17AD44D5-FD6D-E002-F55C-194BD97D2C2C}"/>
              </a:ext>
            </a:extLst>
          </p:cNvPr>
          <p:cNvSpPr txBox="1"/>
          <p:nvPr/>
        </p:nvSpPr>
        <p:spPr>
          <a:xfrm>
            <a:off x="6206373" y="1366369"/>
            <a:ext cx="2734430" cy="523220"/>
          </a:xfrm>
          <a:prstGeom prst="rect">
            <a:avLst/>
          </a:prstGeom>
          <a:noFill/>
        </p:spPr>
        <p:txBody>
          <a:bodyPr wrap="square" rtlCol="0">
            <a:spAutoFit/>
          </a:bodyPr>
          <a:lstStyle/>
          <a:p>
            <a:r>
              <a:rPr lang="en-US" sz="2800" dirty="0" err="1"/>
              <a:t>Kmeans</a:t>
            </a:r>
            <a:r>
              <a:rPr lang="en-US" sz="2800" dirty="0"/>
              <a:t> +HMM</a:t>
            </a:r>
            <a:endParaRPr lang="en-IN" sz="2800" dirty="0"/>
          </a:p>
        </p:txBody>
      </p:sp>
    </p:spTree>
    <p:extLst>
      <p:ext uri="{BB962C8B-B14F-4D97-AF65-F5344CB8AC3E}">
        <p14:creationId xmlns:p14="http://schemas.microsoft.com/office/powerpoint/2010/main" val="1099863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09664-C00F-4100-8271-ACBCF3368B48}"/>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B29BD859-FAB2-4CB0-A1B0-D2DD1DB6EA91}"/>
              </a:ext>
            </a:extLst>
          </p:cNvPr>
          <p:cNvSpPr>
            <a:spLocks noGrp="1"/>
          </p:cNvSpPr>
          <p:nvPr>
            <p:ph idx="1"/>
          </p:nvPr>
        </p:nvSpPr>
        <p:spPr>
          <a:xfrm>
            <a:off x="265545" y="1325560"/>
            <a:ext cx="11796753" cy="5272667"/>
          </a:xfrm>
        </p:spPr>
        <p:txBody>
          <a:bodyPr>
            <a:normAutofit fontScale="25000" lnSpcReduction="20000"/>
          </a:bodyPr>
          <a:lstStyle/>
          <a:p>
            <a:pPr>
              <a:lnSpc>
                <a:spcPct val="120000"/>
              </a:lnSpc>
            </a:pPr>
            <a:r>
              <a:rPr lang="en-US" sz="4000" b="1" dirty="0"/>
              <a:t>[1]</a:t>
            </a:r>
            <a:r>
              <a:rPr lang="en-US" sz="4000" dirty="0"/>
              <a:t> Learning Longitudinal Health Representations from EHR and Wearable Data. </a:t>
            </a:r>
            <a:r>
              <a:rPr lang="en-US" sz="4000" i="1" dirty="0"/>
              <a:t>arXiv:2601.12227v1</a:t>
            </a:r>
            <a:r>
              <a:rPr lang="en-US" sz="4000" dirty="0"/>
              <a:t>, 2026. </a:t>
            </a:r>
            <a:r>
              <a:rPr lang="en-US" sz="4000" dirty="0">
                <a:hlinkClick r:id="rId2"/>
              </a:rPr>
              <a:t>https://arxiv.org/html/2601.12227v1</a:t>
            </a:r>
            <a:endParaRPr lang="en-US" sz="4000" dirty="0"/>
          </a:p>
          <a:p>
            <a:pPr>
              <a:lnSpc>
                <a:spcPct val="120000"/>
              </a:lnSpc>
            </a:pPr>
            <a:r>
              <a:rPr lang="en-US" sz="4000" b="1" dirty="0"/>
              <a:t>[2]</a:t>
            </a:r>
            <a:r>
              <a:rPr lang="en-US" sz="4000" dirty="0"/>
              <a:t> AI on the Pulse: Real-Time Health Anomaly Detection with Wearable and Ambient Intelligence. </a:t>
            </a:r>
            <a:r>
              <a:rPr lang="en-US" sz="4000" i="1" dirty="0"/>
              <a:t>arXiv:2508.03436v1</a:t>
            </a:r>
            <a:r>
              <a:rPr lang="en-US" sz="4000" dirty="0"/>
              <a:t>, 2025. </a:t>
            </a:r>
            <a:r>
              <a:rPr lang="en-US" sz="4000" dirty="0">
                <a:hlinkClick r:id="rId3"/>
              </a:rPr>
              <a:t>https://arxiv.org/html/2508.03436v1</a:t>
            </a:r>
            <a:endParaRPr lang="en-US" sz="4000" dirty="0"/>
          </a:p>
          <a:p>
            <a:pPr>
              <a:lnSpc>
                <a:spcPct val="120000"/>
              </a:lnSpc>
            </a:pPr>
            <a:r>
              <a:rPr lang="en-US" sz="4000" b="1" dirty="0"/>
              <a:t>[3]</a:t>
            </a:r>
            <a:r>
              <a:rPr lang="en-US" sz="4000" dirty="0"/>
              <a:t> Passive Sensing for Mental Health Monitoring Using Machine Learning With Wearables and Smartphones: Scoping Review. </a:t>
            </a:r>
            <a:r>
              <a:rPr lang="en-US" sz="4000" i="1" dirty="0"/>
              <a:t>Journal of Medical Internet Research (JMIR)</a:t>
            </a:r>
            <a:r>
              <a:rPr lang="en-US" sz="4000" dirty="0"/>
              <a:t>, 2025. </a:t>
            </a:r>
            <a:r>
              <a:rPr lang="en-US" sz="4000" dirty="0">
                <a:hlinkClick r:id="rId4"/>
              </a:rPr>
              <a:t>https://www.jmir.org/2025/1/e77066</a:t>
            </a:r>
            <a:endParaRPr lang="en-US" sz="4000" dirty="0"/>
          </a:p>
          <a:p>
            <a:pPr>
              <a:lnSpc>
                <a:spcPct val="120000"/>
              </a:lnSpc>
            </a:pPr>
            <a:r>
              <a:rPr lang="en-US" sz="4000" b="1" dirty="0"/>
              <a:t>[4]</a:t>
            </a:r>
            <a:r>
              <a:rPr lang="en-US" sz="4000" dirty="0"/>
              <a:t> Using Unsupervised Machine Learning to Characterize Recovery Patterns in Elite Canoe-Kayak Athletes Across the Olympic Training Year. </a:t>
            </a:r>
            <a:r>
              <a:rPr lang="en-US" sz="4000" i="1" dirty="0"/>
              <a:t>Frontiers in Sports and Active Living</a:t>
            </a:r>
            <a:r>
              <a:rPr lang="en-US" sz="4000" dirty="0"/>
              <a:t>, 2025. </a:t>
            </a:r>
            <a:r>
              <a:rPr lang="en-US" sz="4000" dirty="0">
                <a:hlinkClick r:id="rId5"/>
              </a:rPr>
              <a:t>https://www.frontiersin.org/journals/sports-and-active-living/articles/10.3389/fspor.2025.1629924/full</a:t>
            </a:r>
            <a:endParaRPr lang="en-US" sz="4000" dirty="0"/>
          </a:p>
          <a:p>
            <a:pPr>
              <a:lnSpc>
                <a:spcPct val="120000"/>
              </a:lnSpc>
            </a:pPr>
            <a:r>
              <a:rPr lang="en-US" sz="4000" b="1" dirty="0"/>
              <a:t>[5]</a:t>
            </a:r>
            <a:r>
              <a:rPr lang="en-US" sz="4000" dirty="0"/>
              <a:t> Hierarchical Heated Markov Modeling for Synthesizing Activity Data from Wearable Devices. </a:t>
            </a:r>
            <a:r>
              <a:rPr lang="en-US" sz="4000" i="1" dirty="0"/>
              <a:t>PMC / NIH</a:t>
            </a:r>
            <a:r>
              <a:rPr lang="en-US" sz="4000" dirty="0"/>
              <a:t>, 2025. </a:t>
            </a:r>
            <a:r>
              <a:rPr lang="en-US" sz="4000" dirty="0">
                <a:hlinkClick r:id="rId6"/>
              </a:rPr>
              <a:t>https://pmc.ncbi.nlm.nih.gov/articles/PMC12810407/</a:t>
            </a:r>
            <a:endParaRPr lang="en-US" sz="4000" dirty="0"/>
          </a:p>
          <a:p>
            <a:pPr>
              <a:lnSpc>
                <a:spcPct val="120000"/>
              </a:lnSpc>
            </a:pPr>
            <a:r>
              <a:rPr lang="en-US" sz="4000" b="1" dirty="0"/>
              <a:t>[6]</a:t>
            </a:r>
            <a:r>
              <a:rPr lang="en-US" sz="4000" dirty="0"/>
              <a:t> Predictive Modeling of Biomedical Temporal Data in Healthcare Applications: Review and Future Directions. </a:t>
            </a:r>
            <a:r>
              <a:rPr lang="en-US" sz="4000" i="1" dirty="0"/>
              <a:t>PMC</a:t>
            </a:r>
            <a:r>
              <a:rPr lang="en-US" sz="4000" dirty="0"/>
              <a:t>, 2025. </a:t>
            </a:r>
            <a:r>
              <a:rPr lang="en-US" sz="4000" dirty="0">
                <a:hlinkClick r:id="rId7"/>
              </a:rPr>
              <a:t>https://pmc.ncbi.nlm.nih.gov/articles/PMC11519529/</a:t>
            </a:r>
            <a:endParaRPr lang="en-US" sz="4000" dirty="0"/>
          </a:p>
          <a:p>
            <a:pPr>
              <a:lnSpc>
                <a:spcPct val="120000"/>
              </a:lnSpc>
            </a:pPr>
            <a:r>
              <a:rPr lang="en-US" sz="4000" b="1" dirty="0"/>
              <a:t>[7]</a:t>
            </a:r>
            <a:r>
              <a:rPr lang="en-US" sz="4000" dirty="0"/>
              <a:t> Resting Heart Rate Variability Measured by Consumer Wearables and Its Associations with Diverse Health Domains in Five Longitudinal Studies. </a:t>
            </a:r>
            <a:r>
              <a:rPr lang="en-US" sz="4000" i="1" dirty="0"/>
              <a:t>MDPI Sensors 25(23):7147</a:t>
            </a:r>
            <a:r>
              <a:rPr lang="en-US" sz="4000" dirty="0"/>
              <a:t>, 2025. </a:t>
            </a:r>
            <a:r>
              <a:rPr lang="en-US" sz="4000" dirty="0">
                <a:hlinkClick r:id="rId8"/>
              </a:rPr>
              <a:t>https://pmc.ncbi.nlm.nih.gov/articles/PMC12693838/</a:t>
            </a:r>
            <a:endParaRPr lang="en-US" sz="4000" dirty="0"/>
          </a:p>
          <a:p>
            <a:pPr>
              <a:lnSpc>
                <a:spcPct val="120000"/>
              </a:lnSpc>
            </a:pPr>
            <a:r>
              <a:rPr lang="en-US" sz="4000" b="1" dirty="0"/>
              <a:t>[8]</a:t>
            </a:r>
            <a:r>
              <a:rPr lang="en-US" sz="4000" dirty="0"/>
              <a:t> Physiological State Recognition via HRV and Fractal Analysis Using AI and Unsupervised Clustering. </a:t>
            </a:r>
            <a:r>
              <a:rPr lang="en-US" sz="4000" i="1" dirty="0"/>
              <a:t>MDPI Information 16(9):718</a:t>
            </a:r>
            <a:r>
              <a:rPr lang="en-US" sz="4000" dirty="0"/>
              <a:t>, 2025. </a:t>
            </a:r>
            <a:r>
              <a:rPr lang="en-US" sz="4000" dirty="0">
                <a:hlinkClick r:id="rId9"/>
              </a:rPr>
              <a:t>https://www.mdpi.com/2078-2489/16/9/718</a:t>
            </a:r>
            <a:endParaRPr lang="en-US" sz="4000" dirty="0"/>
          </a:p>
          <a:p>
            <a:pPr>
              <a:lnSpc>
                <a:spcPct val="120000"/>
              </a:lnSpc>
            </a:pPr>
            <a:r>
              <a:rPr lang="en-US" sz="4000" b="1" dirty="0"/>
              <a:t>[9]</a:t>
            </a:r>
            <a:r>
              <a:rPr lang="en-US" sz="4000" dirty="0"/>
              <a:t> AI on the Pulse: Real-Time Health Anomaly Detection — Wearable and Ambient Intelligence (XAI + LLM narrative layer). </a:t>
            </a:r>
            <a:r>
              <a:rPr lang="en-US" sz="4000" i="1" dirty="0"/>
              <a:t>arXiv:2508.03436v1</a:t>
            </a:r>
            <a:r>
              <a:rPr lang="en-US" sz="4000" dirty="0"/>
              <a:t>, 2025. </a:t>
            </a:r>
            <a:r>
              <a:rPr lang="en-US" sz="4000" dirty="0">
                <a:hlinkClick r:id="rId3"/>
              </a:rPr>
              <a:t>https://arxiv.org/html/2508.03436v1</a:t>
            </a:r>
            <a:endParaRPr lang="en-US" sz="4000" dirty="0"/>
          </a:p>
          <a:p>
            <a:pPr>
              <a:lnSpc>
                <a:spcPct val="120000"/>
              </a:lnSpc>
            </a:pPr>
            <a:r>
              <a:rPr lang="en-US" sz="4000" b="1" dirty="0"/>
              <a:t>[10]</a:t>
            </a:r>
            <a:r>
              <a:rPr lang="en-US" sz="4000" dirty="0"/>
              <a:t> Unsupervised Machine Learning Identifies Latent Ultradian States in Multi-Modal Wearable Sensor Signals. </a:t>
            </a:r>
            <a:r>
              <a:rPr lang="en-US" sz="4000" i="1" dirty="0"/>
              <a:t>IEEE Xplore</a:t>
            </a:r>
            <a:r>
              <a:rPr lang="en-US" sz="4000" dirty="0"/>
              <a:t>, 2025. </a:t>
            </a:r>
            <a:r>
              <a:rPr lang="en-US" sz="4000" dirty="0">
                <a:hlinkClick r:id="rId10"/>
              </a:rPr>
              <a:t>https://ieeexplore.ieee.org/document/10871508/</a:t>
            </a:r>
            <a:endParaRPr lang="en-US" sz="4000" dirty="0"/>
          </a:p>
          <a:p>
            <a:pPr>
              <a:lnSpc>
                <a:spcPct val="120000"/>
              </a:lnSpc>
            </a:pPr>
            <a:r>
              <a:rPr lang="en-US" sz="4000" b="1" dirty="0"/>
              <a:t>[11]</a:t>
            </a:r>
            <a:r>
              <a:rPr lang="en-US" sz="4000" dirty="0"/>
              <a:t> Heart Rate Variability Coefficient of Variation During Sleep as a Digital Biomarker Reflecting Behavior. </a:t>
            </a:r>
            <a:r>
              <a:rPr lang="en-US" sz="4000" i="1" dirty="0"/>
              <a:t>American Journal of Physiology: Heart and Circulatory Physiology</a:t>
            </a:r>
            <a:r>
              <a:rPr lang="en-US" sz="4000" dirty="0"/>
              <a:t>, 2025. </a:t>
            </a:r>
            <a:r>
              <a:rPr lang="en-US" sz="4000" dirty="0">
                <a:hlinkClick r:id="rId11"/>
              </a:rPr>
              <a:t>https://journals.physiology.org/doi/10.1152/ajpheart.00738.2025</a:t>
            </a:r>
            <a:endParaRPr lang="en-US" sz="4000" dirty="0"/>
          </a:p>
          <a:p>
            <a:pPr>
              <a:lnSpc>
                <a:spcPct val="120000"/>
              </a:lnSpc>
            </a:pPr>
            <a:r>
              <a:rPr lang="en-US" sz="4000" b="1" dirty="0"/>
              <a:t>[12]</a:t>
            </a:r>
            <a:r>
              <a:rPr lang="en-US" sz="4000" dirty="0"/>
              <a:t> </a:t>
            </a:r>
            <a:r>
              <a:rPr lang="en-US" sz="4000" dirty="0" err="1"/>
              <a:t>SensorLM</a:t>
            </a:r>
            <a:r>
              <a:rPr lang="en-US" sz="4000" dirty="0"/>
              <a:t>: Learning the Language of Wearable Sensors. </a:t>
            </a:r>
            <a:r>
              <a:rPr lang="en-US" sz="4000" i="1" dirty="0"/>
              <a:t>Google Research Blog</a:t>
            </a:r>
            <a:r>
              <a:rPr lang="en-US" sz="4000" dirty="0"/>
              <a:t>, 2025. </a:t>
            </a:r>
            <a:r>
              <a:rPr lang="en-US" sz="4000" dirty="0">
                <a:hlinkClick r:id="rId12"/>
              </a:rPr>
              <a:t>https://research.google/blog/sensorlm-learning-the-language-of-wearable-sensors/</a:t>
            </a:r>
            <a:endParaRPr lang="en-US" sz="4000" dirty="0"/>
          </a:p>
          <a:p>
            <a:pPr>
              <a:lnSpc>
                <a:spcPct val="120000"/>
              </a:lnSpc>
            </a:pPr>
            <a:r>
              <a:rPr lang="en-US" sz="4000" b="1" dirty="0"/>
              <a:t>[13]</a:t>
            </a:r>
            <a:r>
              <a:rPr lang="en-US" sz="4000" dirty="0"/>
              <a:t> Transformer-Driven Affective State Recognition from Wearable Physiological Data in Everyday Contexts. </a:t>
            </a:r>
            <a:r>
              <a:rPr lang="en-US" sz="4000" i="1" dirty="0"/>
              <a:t>MDPI Sensors 25(3):761</a:t>
            </a:r>
            <a:r>
              <a:rPr lang="en-US" sz="4000" dirty="0"/>
              <a:t>, 2025. </a:t>
            </a:r>
            <a:r>
              <a:rPr lang="en-US" sz="4000" dirty="0">
                <a:hlinkClick r:id="rId13"/>
              </a:rPr>
              <a:t>https://www.mdpi.com/1424-8220/25/3/761</a:t>
            </a:r>
            <a:endParaRPr lang="en-US" sz="4000" dirty="0"/>
          </a:p>
          <a:p>
            <a:pPr>
              <a:lnSpc>
                <a:spcPct val="120000"/>
              </a:lnSpc>
            </a:pPr>
            <a:r>
              <a:rPr lang="en-US" sz="4000" b="1" dirty="0"/>
              <a:t>[14]</a:t>
            </a:r>
            <a:r>
              <a:rPr lang="en-US" sz="4000" dirty="0"/>
              <a:t> Real-Time Physiological Activity and Sleep State Monitoring Using TS2Vec Embeddings and DBSCAN Clustering for Heart Rate and Motor Response Analysis in IoMT. </a:t>
            </a:r>
            <a:r>
              <a:rPr lang="en-US" sz="4000" i="1" dirty="0"/>
              <a:t>MDPI Healthcare Technology</a:t>
            </a:r>
            <a:r>
              <a:rPr lang="en-US" sz="4000" dirty="0"/>
              <a:t>, 2025. </a:t>
            </a:r>
            <a:r>
              <a:rPr lang="en-US" sz="4000" dirty="0">
                <a:hlinkClick r:id="rId14"/>
              </a:rPr>
              <a:t>https://www.mdpi.com/2624-6120/6/4/67</a:t>
            </a:r>
            <a:endParaRPr lang="en-US" sz="4000" dirty="0"/>
          </a:p>
          <a:p>
            <a:pPr>
              <a:lnSpc>
                <a:spcPct val="120000"/>
              </a:lnSpc>
            </a:pPr>
            <a:r>
              <a:rPr lang="en-US" sz="4000" b="1" dirty="0"/>
              <a:t>[15]</a:t>
            </a:r>
            <a:r>
              <a:rPr lang="en-US" sz="4000" dirty="0"/>
              <a:t> Gaussian Mixture Generative Model for Physiological State Identification in Wearable IoT Systems. </a:t>
            </a:r>
            <a:r>
              <a:rPr lang="en-US" sz="4000" i="1" dirty="0"/>
              <a:t>Engineering Applications of Artificial Intelligence, Elsevier</a:t>
            </a:r>
            <a:r>
              <a:rPr lang="en-US" sz="4000" dirty="0"/>
              <a:t> (S2665917424003775), 2024.</a:t>
            </a:r>
          </a:p>
          <a:p>
            <a:pPr>
              <a:lnSpc>
                <a:spcPct val="120000"/>
              </a:lnSpc>
            </a:pPr>
            <a:endParaRPr lang="en-US" sz="4000" dirty="0"/>
          </a:p>
        </p:txBody>
      </p:sp>
      <p:sp>
        <p:nvSpPr>
          <p:cNvPr id="4" name="Date Placeholder 3">
            <a:extLst>
              <a:ext uri="{FF2B5EF4-FFF2-40B4-BE49-F238E27FC236}">
                <a16:creationId xmlns:a16="http://schemas.microsoft.com/office/drawing/2014/main" id="{C06AA7B4-4F4D-436E-87C6-C47813BCAF1A}"/>
              </a:ext>
            </a:extLst>
          </p:cNvPr>
          <p:cNvSpPr>
            <a:spLocks noGrp="1"/>
          </p:cNvSpPr>
          <p:nvPr>
            <p:ph type="dt" sz="half" idx="10"/>
          </p:nvPr>
        </p:nvSpPr>
        <p:spPr/>
        <p:txBody>
          <a:bodyPr/>
          <a:lstStyle/>
          <a:p>
            <a:r>
              <a:rPr lang="en-IN" b="1" dirty="0"/>
              <a:t>07-06-26</a:t>
            </a:r>
            <a:endParaRPr lang="en-IN" dirty="0"/>
          </a:p>
        </p:txBody>
      </p:sp>
      <p:sp>
        <p:nvSpPr>
          <p:cNvPr id="5" name="Footer Placeholder 4">
            <a:extLst>
              <a:ext uri="{FF2B5EF4-FFF2-40B4-BE49-F238E27FC236}">
                <a16:creationId xmlns:a16="http://schemas.microsoft.com/office/drawing/2014/main" id="{63D5EB94-1CCB-41F9-B974-602D2B052690}"/>
              </a:ext>
            </a:extLst>
          </p:cNvPr>
          <p:cNvSpPr>
            <a:spLocks noGrp="1"/>
          </p:cNvSpPr>
          <p:nvPr>
            <p:ph type="ftr" sz="quarter" idx="11"/>
          </p:nvPr>
        </p:nvSpPr>
        <p:spPr/>
        <p:txBody>
          <a:bodyPr/>
          <a:lstStyle/>
          <a:p>
            <a:r>
              <a:rPr lang="en-US" dirty="0"/>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9E7AEB1C-7EE2-445F-880A-1E0F241F2ABC}"/>
              </a:ext>
            </a:extLst>
          </p:cNvPr>
          <p:cNvSpPr>
            <a:spLocks noGrp="1"/>
          </p:cNvSpPr>
          <p:nvPr>
            <p:ph type="sldNum" sz="quarter" idx="12"/>
          </p:nvPr>
        </p:nvSpPr>
        <p:spPr/>
        <p:txBody>
          <a:bodyPr/>
          <a:lstStyle/>
          <a:p>
            <a:fld id="{1631108B-5D83-4953-8F3A-2D4544B1B95C}" type="slidenum">
              <a:rPr lang="en-IN" smtClean="0"/>
              <a:pPr/>
              <a:t>16</a:t>
            </a:fld>
            <a:endParaRPr lang="en-IN" dirty="0"/>
          </a:p>
        </p:txBody>
      </p:sp>
    </p:spTree>
    <p:extLst>
      <p:ext uri="{BB962C8B-B14F-4D97-AF65-F5344CB8AC3E}">
        <p14:creationId xmlns:p14="http://schemas.microsoft.com/office/powerpoint/2010/main" val="20385579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C510-D4A9-465E-854E-A35EE987B940}"/>
              </a:ext>
            </a:extLst>
          </p:cNvPr>
          <p:cNvSpPr>
            <a:spLocks noGrp="1"/>
          </p:cNvSpPr>
          <p:nvPr>
            <p:ph type="title"/>
          </p:nvPr>
        </p:nvSpPr>
        <p:spPr/>
        <p:txBody>
          <a:bodyPr/>
          <a:lstStyle/>
          <a:p>
            <a:endParaRPr lang="en-IN" dirty="0"/>
          </a:p>
        </p:txBody>
      </p:sp>
      <p:sp>
        <p:nvSpPr>
          <p:cNvPr id="4" name="Date Placeholder 3">
            <a:extLst>
              <a:ext uri="{FF2B5EF4-FFF2-40B4-BE49-F238E27FC236}">
                <a16:creationId xmlns:a16="http://schemas.microsoft.com/office/drawing/2014/main" id="{B1CF5830-8010-414E-BAD5-F49D5C3AFA03}"/>
              </a:ext>
            </a:extLst>
          </p:cNvPr>
          <p:cNvSpPr>
            <a:spLocks noGrp="1"/>
          </p:cNvSpPr>
          <p:nvPr>
            <p:ph type="dt" sz="half" idx="10"/>
          </p:nvPr>
        </p:nvSpPr>
        <p:spPr/>
        <p:txBody>
          <a:bodyPr/>
          <a:lstStyle/>
          <a:p>
            <a:fld id="{EE0F8987-659C-4DB3-998F-D5EBA4ED3595}" type="datetime1">
              <a:rPr lang="en-IN" smtClean="0"/>
              <a:t>07-06-2026</a:t>
            </a:fld>
            <a:endParaRPr lang="en-IN" dirty="0"/>
          </a:p>
        </p:txBody>
      </p:sp>
      <p:sp>
        <p:nvSpPr>
          <p:cNvPr id="5" name="Footer Placeholder 4">
            <a:extLst>
              <a:ext uri="{FF2B5EF4-FFF2-40B4-BE49-F238E27FC236}">
                <a16:creationId xmlns:a16="http://schemas.microsoft.com/office/drawing/2014/main" id="{4B061543-9A01-48B0-B76E-987BD92BFC4F}"/>
              </a:ext>
            </a:extLst>
          </p:cNvPr>
          <p:cNvSpPr>
            <a:spLocks noGrp="1"/>
          </p:cNvSpPr>
          <p:nvPr>
            <p:ph type="ftr" sz="quarter" idx="11"/>
          </p:nvPr>
        </p:nvSpPr>
        <p:spPr/>
        <p:txBody>
          <a:bodyPr/>
          <a:lstStyle/>
          <a:p>
            <a:r>
              <a:rPr lang="en-US" dirty="0"/>
              <a:t>Dynamic  Health Risk Predictor| Department of Information Science and Engineering</a:t>
            </a:r>
            <a:endParaRPr lang="en-IN" dirty="0"/>
          </a:p>
        </p:txBody>
      </p:sp>
      <p:sp>
        <p:nvSpPr>
          <p:cNvPr id="6" name="Slide Number Placeholder 5">
            <a:extLst>
              <a:ext uri="{FF2B5EF4-FFF2-40B4-BE49-F238E27FC236}">
                <a16:creationId xmlns:a16="http://schemas.microsoft.com/office/drawing/2014/main" id="{B0F4EF6D-652B-4B98-A6F4-9779FB429E27}"/>
              </a:ext>
            </a:extLst>
          </p:cNvPr>
          <p:cNvSpPr>
            <a:spLocks noGrp="1"/>
          </p:cNvSpPr>
          <p:nvPr>
            <p:ph type="sldNum" sz="quarter" idx="12"/>
          </p:nvPr>
        </p:nvSpPr>
        <p:spPr/>
        <p:txBody>
          <a:bodyPr/>
          <a:lstStyle/>
          <a:p>
            <a:fld id="{1631108B-5D83-4953-8F3A-2D4544B1B95C}" type="slidenum">
              <a:rPr lang="en-IN" smtClean="0"/>
              <a:pPr/>
              <a:t>17</a:t>
            </a:fld>
            <a:endParaRPr lang="en-IN" dirty="0"/>
          </a:p>
        </p:txBody>
      </p:sp>
      <p:sp>
        <p:nvSpPr>
          <p:cNvPr id="7" name="Rectangle 6">
            <a:extLst>
              <a:ext uri="{FF2B5EF4-FFF2-40B4-BE49-F238E27FC236}">
                <a16:creationId xmlns:a16="http://schemas.microsoft.com/office/drawing/2014/main" id="{4534FEE5-3B4F-40B4-A48B-1FEB85BFF71C}"/>
              </a:ext>
            </a:extLst>
          </p:cNvPr>
          <p:cNvSpPr/>
          <p:nvPr/>
        </p:nvSpPr>
        <p:spPr>
          <a:xfrm>
            <a:off x="0" y="-3"/>
            <a:ext cx="12192000" cy="6858003"/>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2" name="Content Placeholder 11">
            <a:extLst>
              <a:ext uri="{FF2B5EF4-FFF2-40B4-BE49-F238E27FC236}">
                <a16:creationId xmlns:a16="http://schemas.microsoft.com/office/drawing/2014/main" id="{7C42F483-746E-4908-84B7-3071E881524B}"/>
              </a:ext>
            </a:extLst>
          </p:cNvPr>
          <p:cNvPicPr>
            <a:picLocks noGrp="1" noChangeAspect="1"/>
          </p:cNvPicPr>
          <p:nvPr>
            <p:ph idx="1"/>
          </p:nvPr>
        </p:nvPicPr>
        <p:blipFill>
          <a:blip r:embed="rId2">
            <a:duotone>
              <a:prstClr val="black"/>
              <a:schemeClr val="tx2">
                <a:tint val="45000"/>
                <a:satMod val="400000"/>
              </a:schemeClr>
            </a:duotone>
            <a:alphaModFix amt="20000"/>
            <a:extLst>
              <a:ext uri="{28A0092B-C50C-407E-A947-70E740481C1C}">
                <a14:useLocalDpi xmlns:a14="http://schemas.microsoft.com/office/drawing/2010/main" val="0"/>
              </a:ext>
            </a:extLst>
          </a:blip>
          <a:stretch>
            <a:fillRect/>
          </a:stretch>
        </p:blipFill>
        <p:spPr>
          <a:xfrm>
            <a:off x="3952875" y="1574800"/>
            <a:ext cx="4351338" cy="4351338"/>
          </a:xfrm>
        </p:spPr>
      </p:pic>
      <p:sp>
        <p:nvSpPr>
          <p:cNvPr id="8" name="TextBox 7">
            <a:extLst>
              <a:ext uri="{FF2B5EF4-FFF2-40B4-BE49-F238E27FC236}">
                <a16:creationId xmlns:a16="http://schemas.microsoft.com/office/drawing/2014/main" id="{0316B501-A80F-43B5-9494-87970C71F2A9}"/>
              </a:ext>
            </a:extLst>
          </p:cNvPr>
          <p:cNvSpPr txBox="1"/>
          <p:nvPr/>
        </p:nvSpPr>
        <p:spPr>
          <a:xfrm>
            <a:off x="3303948" y="2864016"/>
            <a:ext cx="5649191" cy="1569660"/>
          </a:xfrm>
          <a:prstGeom prst="rect">
            <a:avLst/>
          </a:prstGeom>
          <a:noFill/>
        </p:spPr>
        <p:txBody>
          <a:bodyPr wrap="square" rtlCol="0">
            <a:spAutoFit/>
          </a:bodyPr>
          <a:lstStyle/>
          <a:p>
            <a:pPr algn="ctr"/>
            <a:r>
              <a:rPr lang="en-IN" sz="9600" dirty="0">
                <a:solidFill>
                  <a:schemeClr val="bg1"/>
                </a:solidFill>
              </a:rPr>
              <a:t>Thank you</a:t>
            </a:r>
          </a:p>
        </p:txBody>
      </p:sp>
    </p:spTree>
    <p:extLst>
      <p:ext uri="{BB962C8B-B14F-4D97-AF65-F5344CB8AC3E}">
        <p14:creationId xmlns:p14="http://schemas.microsoft.com/office/powerpoint/2010/main" val="41821672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